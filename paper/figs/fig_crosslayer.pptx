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2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1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81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3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9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0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9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7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4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2026" y="124969"/>
            <a:ext cx="11303000" cy="314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900" b="1" dirty="0" smtClean="0">
                <a:solidFill>
                  <a:srgbClr val="333333"/>
                </a:solidFill>
                <a:latin typeface="Calibri"/>
                <a:cs typeface="Calibri"/>
              </a:rPr>
              <a:t>C</a:t>
            </a:r>
            <a:r>
              <a:rPr sz="1900" b="1" spc="-25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9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oss-l</a:t>
            </a:r>
            <a:r>
              <a:rPr sz="1900" b="1" spc="-45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900" b="1" spc="-35" dirty="0" smtClean="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sz="1900" b="1" spc="0" dirty="0" smtClean="0">
                <a:solidFill>
                  <a:srgbClr val="333333"/>
                </a:solidFill>
                <a:latin typeface="Calibri"/>
                <a:cs typeface="Calibri"/>
              </a:rPr>
              <a:t>er </a:t>
            </a:r>
            <a:r>
              <a:rPr sz="19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design fl</a:t>
            </a:r>
            <a:r>
              <a:rPr sz="1900" b="1" spc="-20" dirty="0" smtClean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19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w: </a:t>
            </a:r>
            <a:r>
              <a:rPr sz="1900" b="1" spc="-15" dirty="0" smtClean="0">
                <a:solidFill>
                  <a:srgbClr val="333333"/>
                </a:solidFill>
                <a:latin typeface="Calibri"/>
                <a:cs typeface="Calibri"/>
              </a:rPr>
              <a:t>wh</a:t>
            </a:r>
            <a:r>
              <a:rPr sz="1900" b="1" spc="-30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9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t each </a:t>
            </a:r>
            <a:r>
              <a:rPr sz="1900" b="1" spc="-5" dirty="0" smtClean="0">
                <a:solidFill>
                  <a:srgbClr val="333333"/>
                </a:solidFill>
                <a:latin typeface="Calibri"/>
                <a:cs typeface="Calibri"/>
              </a:rPr>
              <a:t>l</a:t>
            </a:r>
            <a:r>
              <a:rPr sz="1900" b="1" spc="-45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900" b="1" spc="-35" dirty="0" smtClean="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sz="1900" b="1" spc="0" dirty="0" smtClean="0">
                <a:solidFill>
                  <a:srgbClr val="333333"/>
                </a:solidFill>
                <a:latin typeface="Calibri"/>
                <a:cs typeface="Calibri"/>
              </a:rPr>
              <a:t>er </a:t>
            </a:r>
            <a:r>
              <a:rPr sz="19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fi</a:t>
            </a:r>
            <a:r>
              <a:rPr sz="1900" b="1" spc="-55" dirty="0" smtClean="0">
                <a:solidFill>
                  <a:srgbClr val="333333"/>
                </a:solidFill>
                <a:latin typeface="Calibri"/>
                <a:cs typeface="Calibri"/>
              </a:rPr>
              <a:t>x</a:t>
            </a:r>
            <a:r>
              <a:rPr sz="19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es, and </a:t>
            </a:r>
            <a:r>
              <a:rPr sz="1900" b="1" spc="-15" dirty="0" smtClean="0">
                <a:solidFill>
                  <a:srgbClr val="333333"/>
                </a:solidFill>
                <a:latin typeface="Calibri"/>
                <a:cs typeface="Calibri"/>
              </a:rPr>
              <a:t>whe</a:t>
            </a:r>
            <a:r>
              <a:rPr sz="1900" b="1" spc="-35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900" b="1" spc="0" dirty="0" smtClean="0">
                <a:solidFill>
                  <a:srgbClr val="333333"/>
                </a:solidFill>
                <a:latin typeface="Calibri"/>
                <a:cs typeface="Calibri"/>
              </a:rPr>
              <a:t>e </a:t>
            </a:r>
            <a:r>
              <a:rPr sz="19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it binds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17319" y="841247"/>
            <a:ext cx="2331719" cy="548639"/>
          </a:xfrm>
          <a:custGeom>
            <a:avLst/>
            <a:gdLst/>
            <a:ahLst/>
            <a:cxnLst/>
            <a:rect l="l" t="t" r="r" b="b"/>
            <a:pathLst>
              <a:path w="2331719" h="548639">
                <a:moveTo>
                  <a:pt x="0" y="54863"/>
                </a:moveTo>
                <a:lnTo>
                  <a:pt x="15539" y="16606"/>
                </a:lnTo>
                <a:lnTo>
                  <a:pt x="53241" y="23"/>
                </a:lnTo>
                <a:lnTo>
                  <a:pt x="2276856" y="0"/>
                </a:lnTo>
                <a:lnTo>
                  <a:pt x="2289810" y="1551"/>
                </a:lnTo>
                <a:lnTo>
                  <a:pt x="2322047" y="24401"/>
                </a:lnTo>
                <a:lnTo>
                  <a:pt x="2331719" y="493775"/>
                </a:lnTo>
                <a:lnTo>
                  <a:pt x="2329828" y="508111"/>
                </a:lnTo>
                <a:lnTo>
                  <a:pt x="2305414" y="540630"/>
                </a:lnTo>
                <a:lnTo>
                  <a:pt x="54863" y="548639"/>
                </a:lnTo>
                <a:lnTo>
                  <a:pt x="40528" y="546748"/>
                </a:lnTo>
                <a:lnTo>
                  <a:pt x="8009" y="522335"/>
                </a:lnTo>
                <a:lnTo>
                  <a:pt x="0" y="54863"/>
                </a:lnTo>
                <a:close/>
              </a:path>
            </a:pathLst>
          </a:custGeom>
          <a:noFill/>
          <a:ln w="15874">
            <a:solidFill>
              <a:srgbClr val="1465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1476" y="953261"/>
            <a:ext cx="1581785" cy="3327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ctr">
              <a:lnSpc>
                <a:spcPct val="100000"/>
              </a:lnSpc>
            </a:pPr>
            <a:r>
              <a:rPr sz="1200" b="1" dirty="0" smtClean="0">
                <a:solidFill>
                  <a:srgbClr val="1465C0"/>
                </a:solidFill>
                <a:latin typeface="Calibri"/>
                <a:cs typeface="Calibri"/>
              </a:rPr>
              <a:t>PD — c</a:t>
            </a:r>
            <a:r>
              <a:rPr sz="1200" b="1" spc="-15" dirty="0" smtClean="0">
                <a:solidFill>
                  <a:srgbClr val="1465C0"/>
                </a:solidFill>
                <a:latin typeface="Calibri"/>
                <a:cs typeface="Calibri"/>
              </a:rPr>
              <a:t>r</a:t>
            </a:r>
            <a:r>
              <a:rPr sz="1200" b="1" spc="-10" dirty="0" smtClean="0">
                <a:solidFill>
                  <a:srgbClr val="1465C0"/>
                </a:solidFill>
                <a:latin typeface="Calibri"/>
                <a:cs typeface="Calibri"/>
              </a:rPr>
              <a:t>ossba</a:t>
            </a:r>
            <a:r>
              <a:rPr sz="1200" b="1" spc="-20" dirty="0" smtClean="0">
                <a:solidFill>
                  <a:srgbClr val="1465C0"/>
                </a:solidFill>
                <a:latin typeface="Calibri"/>
                <a:cs typeface="Calibri"/>
              </a:rPr>
              <a:t>r</a:t>
            </a:r>
            <a:r>
              <a:rPr sz="1200" b="1" spc="-5" dirty="0" smtClean="0">
                <a:solidFill>
                  <a:srgbClr val="1465C0"/>
                </a:solidFill>
                <a:latin typeface="Calibri"/>
                <a:cs typeface="Calibri"/>
              </a:rPr>
              <a:t>s </a:t>
            </a:r>
            <a:r>
              <a:rPr sz="1200" b="1" spc="-10" dirty="0" smtClean="0">
                <a:solidFill>
                  <a:srgbClr val="1465C0"/>
                </a:solidFill>
                <a:latin typeface="Calibri"/>
                <a:cs typeface="Calibri"/>
              </a:rPr>
              <a:t>per </a:t>
            </a:r>
            <a:r>
              <a:rPr sz="1200" b="1" spc="-5" dirty="0" smtClean="0">
                <a:solidFill>
                  <a:srgbClr val="1465C0"/>
                </a:solidFill>
                <a:latin typeface="Calibri"/>
                <a:cs typeface="Calibri"/>
              </a:rPr>
              <a:t>tile c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15"/>
              </a:spcBef>
            </a:pP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design-time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17319" y="1755648"/>
            <a:ext cx="2331719" cy="548639"/>
          </a:xfrm>
          <a:custGeom>
            <a:avLst/>
            <a:gdLst/>
            <a:ahLst/>
            <a:cxnLst/>
            <a:rect l="l" t="t" r="r" b="b"/>
            <a:pathLst>
              <a:path w="2331719" h="548639">
                <a:moveTo>
                  <a:pt x="0" y="54863"/>
                </a:moveTo>
                <a:lnTo>
                  <a:pt x="15539" y="16606"/>
                </a:lnTo>
                <a:lnTo>
                  <a:pt x="53241" y="23"/>
                </a:lnTo>
                <a:lnTo>
                  <a:pt x="2276856" y="0"/>
                </a:lnTo>
                <a:lnTo>
                  <a:pt x="2289810" y="1551"/>
                </a:lnTo>
                <a:lnTo>
                  <a:pt x="2322047" y="24401"/>
                </a:lnTo>
                <a:lnTo>
                  <a:pt x="2331719" y="493775"/>
                </a:lnTo>
                <a:lnTo>
                  <a:pt x="2329828" y="508111"/>
                </a:lnTo>
                <a:lnTo>
                  <a:pt x="2305414" y="540630"/>
                </a:lnTo>
                <a:lnTo>
                  <a:pt x="54863" y="548639"/>
                </a:lnTo>
                <a:lnTo>
                  <a:pt x="40528" y="546748"/>
                </a:lnTo>
                <a:lnTo>
                  <a:pt x="8009" y="522335"/>
                </a:lnTo>
                <a:lnTo>
                  <a:pt x="0" y="54863"/>
                </a:lnTo>
                <a:close/>
              </a:path>
            </a:pathLst>
          </a:custGeom>
          <a:noFill/>
          <a:ln w="15874">
            <a:solidFill>
              <a:srgbClr val="1465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07611" y="1867661"/>
            <a:ext cx="175006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 smtClean="0">
                <a:solidFill>
                  <a:srgbClr val="1465C0"/>
                </a:solidFill>
                <a:latin typeface="Calibri"/>
                <a:cs typeface="Calibri"/>
              </a:rPr>
              <a:t>PO — g</a:t>
            </a:r>
            <a:r>
              <a:rPr sz="1200" b="1" spc="-15" dirty="0" smtClean="0">
                <a:solidFill>
                  <a:srgbClr val="1465C0"/>
                </a:solidFill>
                <a:latin typeface="Calibri"/>
                <a:cs typeface="Calibri"/>
              </a:rPr>
              <a:t>r</a:t>
            </a:r>
            <a:r>
              <a:rPr sz="1200" b="1" spc="-10" dirty="0" smtClean="0">
                <a:solidFill>
                  <a:srgbClr val="1465C0"/>
                </a:solidFill>
                <a:latin typeface="Calibri"/>
                <a:cs typeface="Calibri"/>
              </a:rPr>
              <a:t>ouping </a:t>
            </a:r>
            <a:r>
              <a:rPr sz="1200" b="1" spc="-5" dirty="0" smtClean="0">
                <a:solidFill>
                  <a:srgbClr val="1465C0"/>
                </a:solidFill>
                <a:latin typeface="Calibri"/>
                <a:cs typeface="Calibri"/>
              </a:rPr>
              <a:t>(</a:t>
            </a:r>
            <a:r>
              <a:rPr sz="1200" b="1" spc="-95" dirty="0" smtClean="0">
                <a:solidFill>
                  <a:srgbClr val="1465C0"/>
                </a:solidFill>
                <a:latin typeface="Calibri"/>
                <a:cs typeface="Calibri"/>
              </a:rPr>
              <a:t>r</a:t>
            </a:r>
            <a:r>
              <a:rPr sz="1200" b="1" spc="-5" dirty="0" smtClean="0">
                <a:solidFill>
                  <a:srgbClr val="1465C0"/>
                </a:solidFill>
                <a:latin typeface="Calibri"/>
                <a:cs typeface="Calibri"/>
              </a:rPr>
              <a:t>, s),  r s = 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1472" y="2052320"/>
            <a:ext cx="603250" cy="1479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per workload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7319" y="2670048"/>
            <a:ext cx="2331719" cy="548639"/>
          </a:xfrm>
          <a:custGeom>
            <a:avLst/>
            <a:gdLst/>
            <a:ahLst/>
            <a:cxnLst/>
            <a:rect l="l" t="t" r="r" b="b"/>
            <a:pathLst>
              <a:path w="2331719" h="548639">
                <a:moveTo>
                  <a:pt x="0" y="54863"/>
                </a:moveTo>
                <a:lnTo>
                  <a:pt x="15539" y="16606"/>
                </a:lnTo>
                <a:lnTo>
                  <a:pt x="53241" y="23"/>
                </a:lnTo>
                <a:lnTo>
                  <a:pt x="2276856" y="0"/>
                </a:lnTo>
                <a:lnTo>
                  <a:pt x="2289810" y="1551"/>
                </a:lnTo>
                <a:lnTo>
                  <a:pt x="2322047" y="24401"/>
                </a:lnTo>
                <a:lnTo>
                  <a:pt x="2331719" y="493775"/>
                </a:lnTo>
                <a:lnTo>
                  <a:pt x="2329828" y="508111"/>
                </a:lnTo>
                <a:lnTo>
                  <a:pt x="2305414" y="540630"/>
                </a:lnTo>
                <a:lnTo>
                  <a:pt x="54863" y="548639"/>
                </a:lnTo>
                <a:lnTo>
                  <a:pt x="40528" y="546748"/>
                </a:lnTo>
                <a:lnTo>
                  <a:pt x="8009" y="522335"/>
                </a:lnTo>
                <a:lnTo>
                  <a:pt x="0" y="54863"/>
                </a:lnTo>
                <a:close/>
              </a:path>
            </a:pathLst>
          </a:custGeom>
          <a:noFill/>
          <a:ln w="15874">
            <a:solidFill>
              <a:srgbClr val="C94F1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15735" y="2782061"/>
            <a:ext cx="1534795" cy="3327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10" dirty="0" smtClean="0">
                <a:solidFill>
                  <a:srgbClr val="C94F10"/>
                </a:solidFill>
                <a:latin typeface="Calibri"/>
                <a:cs typeface="Calibri"/>
              </a:rPr>
              <a:t>Mapping: </a:t>
            </a:r>
            <a:r>
              <a:rPr sz="1200" b="1" spc="-5" dirty="0" smtClean="0">
                <a:solidFill>
                  <a:srgbClr val="C94F10"/>
                </a:solidFill>
                <a:latin typeface="Calibri"/>
                <a:cs typeface="Calibri"/>
              </a:rPr>
              <a:t>tiles</a:t>
            </a:r>
            <a:r>
              <a:rPr sz="1200" b="1" spc="5" dirty="0" smtClean="0">
                <a:solidFill>
                  <a:srgbClr val="C94F10"/>
                </a:solidFill>
                <a:latin typeface="Calibri"/>
                <a:cs typeface="Calibri"/>
              </a:rPr>
              <a:t> </a:t>
            </a:r>
            <a:r>
              <a:rPr sz="1200" b="1" spc="0" dirty="0" smtClean="0">
                <a:solidFill>
                  <a:srgbClr val="C94F10"/>
                </a:solidFill>
                <a:latin typeface="Arial"/>
                <a:cs typeface="Arial"/>
              </a:rPr>
              <a:t>→</a:t>
            </a:r>
            <a:r>
              <a:rPr sz="1200" b="1" spc="-65" dirty="0" smtClean="0">
                <a:solidFill>
                  <a:srgbClr val="C94F10"/>
                </a:solidFill>
                <a:latin typeface="Arial"/>
                <a:cs typeface="Arial"/>
              </a:rPr>
              <a:t> </a:t>
            </a:r>
            <a:r>
              <a:rPr sz="1200" b="1" spc="-10" dirty="0" smtClean="0">
                <a:solidFill>
                  <a:srgbClr val="C94F10"/>
                </a:solidFill>
                <a:latin typeface="Calibri"/>
                <a:cs typeface="Calibri"/>
              </a:rPr>
              <a:t>nodes</a:t>
            </a:r>
            <a:endParaRPr sz="1200" dirty="0">
              <a:latin typeface="Calibri"/>
              <a:cs typeface="Calibri"/>
            </a:endParaRPr>
          </a:p>
          <a:p>
            <a:pPr marL="0" algn="ctr">
              <a:lnSpc>
                <a:spcPct val="100000"/>
              </a:lnSpc>
              <a:spcBef>
                <a:spcPts val="15"/>
              </a:spcBef>
            </a:pP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per workload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17319" y="3822192"/>
            <a:ext cx="2331719" cy="548639"/>
          </a:xfrm>
          <a:custGeom>
            <a:avLst/>
            <a:gdLst/>
            <a:ahLst/>
            <a:cxnLst/>
            <a:rect l="l" t="t" r="r" b="b"/>
            <a:pathLst>
              <a:path w="2331719" h="548639">
                <a:moveTo>
                  <a:pt x="0" y="54863"/>
                </a:moveTo>
                <a:lnTo>
                  <a:pt x="15539" y="16606"/>
                </a:lnTo>
                <a:lnTo>
                  <a:pt x="53242" y="23"/>
                </a:lnTo>
                <a:lnTo>
                  <a:pt x="2276856" y="0"/>
                </a:lnTo>
                <a:lnTo>
                  <a:pt x="2289810" y="1551"/>
                </a:lnTo>
                <a:lnTo>
                  <a:pt x="2322047" y="24401"/>
                </a:lnTo>
                <a:lnTo>
                  <a:pt x="2331719" y="493775"/>
                </a:lnTo>
                <a:lnTo>
                  <a:pt x="2329828" y="508110"/>
                </a:lnTo>
                <a:lnTo>
                  <a:pt x="2305414" y="540629"/>
                </a:lnTo>
                <a:lnTo>
                  <a:pt x="54863" y="548639"/>
                </a:lnTo>
                <a:lnTo>
                  <a:pt x="40528" y="546747"/>
                </a:lnTo>
                <a:lnTo>
                  <a:pt x="8009" y="522334"/>
                </a:lnTo>
                <a:lnTo>
                  <a:pt x="0" y="54863"/>
                </a:lnTo>
                <a:close/>
              </a:path>
            </a:pathLst>
          </a:custGeom>
          <a:noFill/>
          <a:ln w="15874">
            <a:solidFill>
              <a:srgbClr val="007B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39622" y="3934206"/>
            <a:ext cx="1485265" cy="3327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35" dirty="0" smtClean="0">
                <a:solidFill>
                  <a:srgbClr val="007B6E"/>
                </a:solidFill>
                <a:latin typeface="Calibri"/>
                <a:cs typeface="Calibri"/>
              </a:rPr>
              <a:t>R</a:t>
            </a:r>
            <a:r>
              <a:rPr sz="1200" b="1" spc="-5" dirty="0" smtClean="0">
                <a:solidFill>
                  <a:srgbClr val="007B6E"/>
                </a:solidFill>
                <a:latin typeface="Calibri"/>
                <a:cs typeface="Calibri"/>
              </a:rPr>
              <a:t>outing: </a:t>
            </a:r>
            <a:r>
              <a:rPr sz="1200" b="1" spc="-10" dirty="0" smtClean="0">
                <a:solidFill>
                  <a:srgbClr val="007B6E"/>
                </a:solidFill>
                <a:latin typeface="Calibri"/>
                <a:cs typeface="Calibri"/>
              </a:rPr>
              <a:t>p</a:t>
            </a:r>
            <a:r>
              <a:rPr sz="1200" b="1" spc="-25" dirty="0" smtClean="0">
                <a:solidFill>
                  <a:srgbClr val="007B6E"/>
                </a:solidFill>
                <a:latin typeface="Calibri"/>
                <a:cs typeface="Calibri"/>
              </a:rPr>
              <a:t>a</a:t>
            </a:r>
            <a:r>
              <a:rPr sz="1200" b="1" spc="-10" dirty="0" smtClean="0">
                <a:solidFill>
                  <a:srgbClr val="007B6E"/>
                </a:solidFill>
                <a:latin typeface="Calibri"/>
                <a:cs typeface="Calibri"/>
              </a:rPr>
              <a:t>th </a:t>
            </a:r>
            <a:r>
              <a:rPr sz="1200" b="1" spc="-5" dirty="0" smtClean="0">
                <a:solidFill>
                  <a:srgbClr val="007B6E"/>
                </a:solidFill>
                <a:latin typeface="Calibri"/>
                <a:cs typeface="Calibri"/>
              </a:rPr>
              <a:t>selection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10"/>
              </a:spcBef>
            </a:pP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ru</a:t>
            </a:r>
            <a:r>
              <a:rPr sz="850" i="1" spc="-15" dirty="0" smtClean="0">
                <a:solidFill>
                  <a:srgbClr val="7D7D7D"/>
                </a:solidFill>
                <a:latin typeface="Calibri"/>
                <a:cs typeface="Calibri"/>
              </a:rPr>
              <a:t>n</a:t>
            </a: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83179" y="1389888"/>
            <a:ext cx="0" cy="365759"/>
          </a:xfrm>
          <a:custGeom>
            <a:avLst/>
            <a:gdLst/>
            <a:ahLst/>
            <a:cxnLst/>
            <a:rect l="l" t="t" r="r" b="b"/>
            <a:pathLst>
              <a:path h="365759">
                <a:moveTo>
                  <a:pt x="-2583179" y="-1389887"/>
                </a:moveTo>
                <a:lnTo>
                  <a:pt x="-2583179" y="-13898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83179" y="1389888"/>
            <a:ext cx="0" cy="270509"/>
          </a:xfrm>
          <a:custGeom>
            <a:avLst/>
            <a:gdLst/>
            <a:ahLst/>
            <a:cxnLst/>
            <a:rect l="l" t="t" r="r" b="b"/>
            <a:pathLst>
              <a:path h="270509">
                <a:moveTo>
                  <a:pt x="0" y="0"/>
                </a:moveTo>
                <a:lnTo>
                  <a:pt x="0" y="270509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56958" y="1660398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26221" y="72042"/>
                </a:moveTo>
                <a:lnTo>
                  <a:pt x="0" y="0"/>
                </a:lnTo>
                <a:lnTo>
                  <a:pt x="52442" y="0"/>
                </a:lnTo>
                <a:lnTo>
                  <a:pt x="26221" y="720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56958" y="1660398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0" y="0"/>
                </a:moveTo>
                <a:lnTo>
                  <a:pt x="26221" y="72042"/>
                </a:lnTo>
                <a:lnTo>
                  <a:pt x="52442" y="0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83179" y="2304288"/>
            <a:ext cx="0" cy="365759"/>
          </a:xfrm>
          <a:custGeom>
            <a:avLst/>
            <a:gdLst/>
            <a:ahLst/>
            <a:cxnLst/>
            <a:rect l="l" t="t" r="r" b="b"/>
            <a:pathLst>
              <a:path h="365759">
                <a:moveTo>
                  <a:pt x="-2583179" y="-2304287"/>
                </a:moveTo>
                <a:lnTo>
                  <a:pt x="-2583179" y="-23042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83179" y="2304288"/>
            <a:ext cx="0" cy="270509"/>
          </a:xfrm>
          <a:custGeom>
            <a:avLst/>
            <a:gdLst/>
            <a:ahLst/>
            <a:cxnLst/>
            <a:rect l="l" t="t" r="r" b="b"/>
            <a:pathLst>
              <a:path h="270509">
                <a:moveTo>
                  <a:pt x="0" y="0"/>
                </a:moveTo>
                <a:lnTo>
                  <a:pt x="0" y="270509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56958" y="2574798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26221" y="72042"/>
                </a:moveTo>
                <a:lnTo>
                  <a:pt x="0" y="0"/>
                </a:lnTo>
                <a:lnTo>
                  <a:pt x="52442" y="0"/>
                </a:lnTo>
                <a:lnTo>
                  <a:pt x="26221" y="720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56958" y="2574798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0" y="0"/>
                </a:moveTo>
                <a:lnTo>
                  <a:pt x="26221" y="72042"/>
                </a:lnTo>
                <a:lnTo>
                  <a:pt x="52442" y="0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83179" y="3218688"/>
            <a:ext cx="0" cy="603504"/>
          </a:xfrm>
          <a:custGeom>
            <a:avLst/>
            <a:gdLst/>
            <a:ahLst/>
            <a:cxnLst/>
            <a:rect l="l" t="t" r="r" b="b"/>
            <a:pathLst>
              <a:path h="603504">
                <a:moveTo>
                  <a:pt x="-2583179" y="-3218687"/>
                </a:moveTo>
                <a:lnTo>
                  <a:pt x="-2583179" y="-32186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83179" y="3218688"/>
            <a:ext cx="0" cy="508254"/>
          </a:xfrm>
          <a:custGeom>
            <a:avLst/>
            <a:gdLst/>
            <a:ahLst/>
            <a:cxnLst/>
            <a:rect l="l" t="t" r="r" b="b"/>
            <a:pathLst>
              <a:path h="508254">
                <a:moveTo>
                  <a:pt x="0" y="0"/>
                </a:moveTo>
                <a:lnTo>
                  <a:pt x="0" y="508254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56958" y="3726942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26221" y="72042"/>
                </a:moveTo>
                <a:lnTo>
                  <a:pt x="0" y="0"/>
                </a:lnTo>
                <a:lnTo>
                  <a:pt x="52442" y="0"/>
                </a:lnTo>
                <a:lnTo>
                  <a:pt x="26221" y="720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56958" y="3726942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0" y="0"/>
                </a:moveTo>
                <a:lnTo>
                  <a:pt x="26221" y="72042"/>
                </a:lnTo>
                <a:lnTo>
                  <a:pt x="52442" y="0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74920" y="1755648"/>
            <a:ext cx="2606039" cy="548639"/>
          </a:xfrm>
          <a:custGeom>
            <a:avLst/>
            <a:gdLst/>
            <a:ahLst/>
            <a:cxnLst/>
            <a:rect l="l" t="t" r="r" b="b"/>
            <a:pathLst>
              <a:path w="2606039" h="548639">
                <a:moveTo>
                  <a:pt x="0" y="0"/>
                </a:moveTo>
                <a:lnTo>
                  <a:pt x="2606039" y="0"/>
                </a:lnTo>
                <a:lnTo>
                  <a:pt x="2606039" y="548639"/>
                </a:lnTo>
                <a:lnTo>
                  <a:pt x="0" y="54863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1465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74920" y="2670048"/>
            <a:ext cx="2606039" cy="548639"/>
          </a:xfrm>
          <a:custGeom>
            <a:avLst/>
            <a:gdLst/>
            <a:ahLst/>
            <a:cxnLst/>
            <a:rect l="l" t="t" r="r" b="b"/>
            <a:pathLst>
              <a:path w="2606039" h="548639">
                <a:moveTo>
                  <a:pt x="0" y="0"/>
                </a:moveTo>
                <a:lnTo>
                  <a:pt x="2606039" y="0"/>
                </a:lnTo>
                <a:lnTo>
                  <a:pt x="2606039" y="548639"/>
                </a:lnTo>
                <a:lnTo>
                  <a:pt x="0" y="54863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C94F1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86800" y="2670048"/>
            <a:ext cx="2285999" cy="548639"/>
          </a:xfrm>
          <a:custGeom>
            <a:avLst/>
            <a:gdLst/>
            <a:ahLst/>
            <a:cxnLst/>
            <a:rect l="l" t="t" r="r" b="b"/>
            <a:pathLst>
              <a:path w="2285999" h="548639">
                <a:moveTo>
                  <a:pt x="0" y="0"/>
                </a:moveTo>
                <a:lnTo>
                  <a:pt x="2285999" y="0"/>
                </a:lnTo>
                <a:lnTo>
                  <a:pt x="2285999" y="548639"/>
                </a:lnTo>
                <a:lnTo>
                  <a:pt x="0" y="548639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881846" y="1867661"/>
            <a:ext cx="991235" cy="3327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 smtClean="0">
                <a:solidFill>
                  <a:srgbClr val="1465C0"/>
                </a:solidFill>
                <a:latin typeface="Calibri"/>
                <a:cs typeface="Calibri"/>
              </a:rPr>
              <a:t>PF — port </a:t>
            </a:r>
            <a:r>
              <a:rPr sz="1200" b="1" spc="-5" dirty="0" smtClean="0">
                <a:solidFill>
                  <a:srgbClr val="1465C0"/>
                </a:solidFill>
                <a:latin typeface="Calibri"/>
                <a:cs typeface="Calibri"/>
              </a:rPr>
              <a:t>floor</a:t>
            </a:r>
            <a:endParaRPr sz="1200">
              <a:latin typeface="Calibri"/>
              <a:cs typeface="Calibri"/>
            </a:endParaRPr>
          </a:p>
          <a:p>
            <a:pPr marL="56515">
              <a:lnSpc>
                <a:spcPct val="100000"/>
              </a:lnSpc>
              <a:spcBef>
                <a:spcPts val="15"/>
              </a:spcBef>
            </a:pPr>
            <a:r>
              <a:rPr sz="850" i="1" dirty="0" smtClean="0">
                <a:solidFill>
                  <a:srgbClr val="7D7D7D"/>
                </a:solidFill>
                <a:latin typeface="Calibri"/>
                <a:cs typeface="Calibri"/>
              </a:rPr>
              <a:t>pla</a:t>
            </a: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ceme</a:t>
            </a:r>
            <a:r>
              <a:rPr sz="850" i="1" spc="-15" dirty="0" smtClean="0">
                <a:solidFill>
                  <a:srgbClr val="7D7D7D"/>
                </a:solidFill>
                <a:latin typeface="Calibri"/>
                <a:cs typeface="Calibri"/>
              </a:rPr>
              <a:t>n</a:t>
            </a:r>
            <a:r>
              <a:rPr sz="850" i="1" spc="-35" dirty="0" smtClean="0">
                <a:solidFill>
                  <a:srgbClr val="7D7D7D"/>
                </a:solidFill>
                <a:latin typeface="Calibri"/>
                <a:cs typeface="Calibri"/>
              </a:rPr>
              <a:t>t</a:t>
            </a:r>
            <a:r>
              <a:rPr sz="850" i="1" spc="0" dirty="0" smtClean="0">
                <a:solidFill>
                  <a:srgbClr val="7D7D7D"/>
                </a:solidFill>
                <a:latin typeface="Calibri"/>
                <a:cs typeface="Calibri"/>
              </a:rPr>
              <a:t>-i</a:t>
            </a:r>
            <a:r>
              <a:rPr sz="850" i="1" spc="-15" dirty="0" smtClean="0">
                <a:solidFill>
                  <a:srgbClr val="7D7D7D"/>
                </a:solidFill>
                <a:latin typeface="Calibri"/>
                <a:cs typeface="Calibri"/>
              </a:rPr>
              <a:t>n</a:t>
            </a: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varia</a:t>
            </a:r>
            <a:r>
              <a:rPr sz="850" i="1" spc="-15" dirty="0" smtClean="0">
                <a:solidFill>
                  <a:srgbClr val="7D7D7D"/>
                </a:solidFill>
                <a:latin typeface="Calibri"/>
                <a:cs typeface="Calibri"/>
              </a:rPr>
              <a:t>n</a:t>
            </a: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48049" y="2782061"/>
            <a:ext cx="1258570" cy="3327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10" dirty="0" smtClean="0">
                <a:solidFill>
                  <a:srgbClr val="C94F10"/>
                </a:solidFill>
                <a:latin typeface="Calibri"/>
                <a:cs typeface="Calibri"/>
              </a:rPr>
              <a:t>PL — peak </a:t>
            </a:r>
            <a:r>
              <a:rPr sz="1200" b="1" spc="-5" dirty="0" smtClean="0">
                <a:solidFill>
                  <a:srgbClr val="C94F10"/>
                </a:solidFill>
                <a:latin typeface="Calibri"/>
                <a:cs typeface="Calibri"/>
              </a:rPr>
              <a:t>link </a:t>
            </a:r>
            <a:r>
              <a:rPr sz="1200" b="1" spc="-10" dirty="0" smtClean="0">
                <a:solidFill>
                  <a:srgbClr val="C94F10"/>
                </a:solidFill>
                <a:latin typeface="Calibri"/>
                <a:cs typeface="Calibri"/>
              </a:rPr>
              <a:t>load</a:t>
            </a:r>
            <a:endParaRPr sz="1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7.5× within one packing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13056" y="2782061"/>
            <a:ext cx="1033144" cy="3327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smtClean="0">
                <a:solidFill>
                  <a:srgbClr val="7D7D7D"/>
                </a:solidFill>
                <a:latin typeface="Calibri"/>
                <a:cs typeface="Calibri"/>
              </a:rPr>
              <a:t>CC — </a:t>
            </a:r>
            <a:r>
              <a:rPr sz="1200" b="1" spc="-10" dirty="0" smtClean="0">
                <a:solidFill>
                  <a:srgbClr val="7D7D7D"/>
                </a:solidFill>
                <a:latin typeface="Calibri"/>
                <a:cs typeface="Calibri"/>
              </a:rPr>
              <a:t>hop </a:t>
            </a:r>
            <a:r>
              <a:rPr sz="1200" b="1" spc="-5" dirty="0" smtClean="0">
                <a:solidFill>
                  <a:srgbClr val="7D7D7D"/>
                </a:solidFill>
                <a:latin typeface="Calibri"/>
                <a:cs typeface="Calibri"/>
              </a:rPr>
              <a:t>c</a:t>
            </a:r>
            <a:r>
              <a:rPr sz="1200" b="1" spc="-10" dirty="0" smtClean="0">
                <a:solidFill>
                  <a:srgbClr val="7D7D7D"/>
                </a:solidFill>
                <a:latin typeface="Calibri"/>
                <a:cs typeface="Calibri"/>
              </a:rPr>
              <a:t>ou</a:t>
            </a:r>
            <a:r>
              <a:rPr sz="1200" b="1" spc="-25" dirty="0" smtClean="0">
                <a:solidFill>
                  <a:srgbClr val="7D7D7D"/>
                </a:solidFill>
                <a:latin typeface="Calibri"/>
                <a:cs typeface="Calibri"/>
              </a:rPr>
              <a:t>n</a:t>
            </a:r>
            <a:r>
              <a:rPr sz="1200" b="1" spc="-5" dirty="0" smtClean="0">
                <a:solidFill>
                  <a:srgbClr val="7D7D7D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  <a:p>
            <a:pPr marL="0" algn="ctr">
              <a:lnSpc>
                <a:spcPct val="100000"/>
              </a:lnSpc>
              <a:spcBef>
                <a:spcPts val="15"/>
              </a:spcBef>
            </a:pP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free-fl</a:t>
            </a:r>
            <a:r>
              <a:rPr sz="850" i="1" spc="-10" dirty="0" smtClean="0">
                <a:solidFill>
                  <a:srgbClr val="7D7D7D"/>
                </a:solidFill>
                <a:latin typeface="Calibri"/>
                <a:cs typeface="Calibri"/>
              </a:rPr>
              <a:t>ow </a:t>
            </a:r>
            <a:r>
              <a:rPr sz="850" i="1" spc="-15" dirty="0" smtClean="0">
                <a:solidFill>
                  <a:srgbClr val="7D7D7D"/>
                </a:solidFill>
                <a:latin typeface="Calibri"/>
                <a:cs typeface="Calibri"/>
              </a:rPr>
              <a:t>t</a:t>
            </a:r>
            <a:r>
              <a:rPr sz="850" i="1" spc="-5" dirty="0" smtClean="0">
                <a:solidFill>
                  <a:srgbClr val="7D7D7D"/>
                </a:solidFill>
                <a:latin typeface="Calibri"/>
                <a:cs typeface="Calibri"/>
              </a:rPr>
              <a:t>erm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49040" y="2029967"/>
            <a:ext cx="1325879" cy="0"/>
          </a:xfrm>
          <a:custGeom>
            <a:avLst/>
            <a:gdLst/>
            <a:ahLst/>
            <a:cxnLst/>
            <a:rect l="l" t="t" r="r" b="b"/>
            <a:pathLst>
              <a:path w="1325879">
                <a:moveTo>
                  <a:pt x="-3749039" y="-2029967"/>
                </a:moveTo>
                <a:lnTo>
                  <a:pt x="-3749039" y="-202996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49040" y="2029967"/>
            <a:ext cx="1230629" cy="0"/>
          </a:xfrm>
          <a:custGeom>
            <a:avLst/>
            <a:gdLst/>
            <a:ahLst/>
            <a:cxnLst/>
            <a:rect l="l" t="t" r="r" b="b"/>
            <a:pathLst>
              <a:path w="1230629">
                <a:moveTo>
                  <a:pt x="0" y="0"/>
                </a:moveTo>
                <a:lnTo>
                  <a:pt x="1230629" y="0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79670" y="2003746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0" y="52442"/>
                </a:moveTo>
                <a:lnTo>
                  <a:pt x="0" y="0"/>
                </a:lnTo>
                <a:lnTo>
                  <a:pt x="72041" y="26221"/>
                </a:lnTo>
                <a:lnTo>
                  <a:pt x="0" y="524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9670" y="2003746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0" y="52442"/>
                </a:moveTo>
                <a:lnTo>
                  <a:pt x="72041" y="26221"/>
                </a:lnTo>
                <a:lnTo>
                  <a:pt x="0" y="0"/>
                </a:lnTo>
                <a:lnTo>
                  <a:pt x="0" y="52442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749040" y="1773935"/>
            <a:ext cx="1325879" cy="219455"/>
          </a:xfrm>
          <a:custGeom>
            <a:avLst/>
            <a:gdLst/>
            <a:ahLst/>
            <a:cxnLst/>
            <a:rect l="l" t="t" r="r" b="b"/>
            <a:pathLst>
              <a:path w="1325879" h="219455">
                <a:moveTo>
                  <a:pt x="0" y="0"/>
                </a:moveTo>
                <a:lnTo>
                  <a:pt x="1325879" y="0"/>
                </a:lnTo>
                <a:lnTo>
                  <a:pt x="1325879" y="219455"/>
                </a:lnTo>
                <a:lnTo>
                  <a:pt x="0" y="21945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295612" y="1810511"/>
            <a:ext cx="233045" cy="1555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900" i="1" dirty="0" smtClean="0">
                <a:solidFill>
                  <a:srgbClr val="333333"/>
                </a:solidFill>
                <a:latin typeface="Calibri"/>
                <a:cs typeface="Calibri"/>
              </a:rPr>
              <a:t>fi</a:t>
            </a:r>
            <a:r>
              <a:rPr sz="900" i="1" spc="-20" dirty="0" smtClean="0">
                <a:solidFill>
                  <a:srgbClr val="333333"/>
                </a:solidFill>
                <a:latin typeface="Calibri"/>
                <a:cs typeface="Calibri"/>
              </a:rPr>
              <a:t>x</a:t>
            </a:r>
            <a:r>
              <a:rPr sz="900" i="1" spc="-5" dirty="0" smtClean="0">
                <a:solidFill>
                  <a:srgbClr val="333333"/>
                </a:solidFill>
                <a:latin typeface="Calibri"/>
                <a:cs typeface="Calibri"/>
              </a:rPr>
              <a:t>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749040" y="2944367"/>
            <a:ext cx="1325879" cy="0"/>
          </a:xfrm>
          <a:custGeom>
            <a:avLst/>
            <a:gdLst/>
            <a:ahLst/>
            <a:cxnLst/>
            <a:rect l="l" t="t" r="r" b="b"/>
            <a:pathLst>
              <a:path w="1325879">
                <a:moveTo>
                  <a:pt x="-3749039" y="-2944367"/>
                </a:moveTo>
                <a:lnTo>
                  <a:pt x="-3749039" y="-294436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49040" y="2944367"/>
            <a:ext cx="1230629" cy="0"/>
          </a:xfrm>
          <a:custGeom>
            <a:avLst/>
            <a:gdLst/>
            <a:ahLst/>
            <a:cxnLst/>
            <a:rect l="l" t="t" r="r" b="b"/>
            <a:pathLst>
              <a:path w="1230629">
                <a:moveTo>
                  <a:pt x="0" y="0"/>
                </a:moveTo>
                <a:lnTo>
                  <a:pt x="1230629" y="0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979670" y="2918146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0" y="52442"/>
                </a:moveTo>
                <a:lnTo>
                  <a:pt x="0" y="0"/>
                </a:lnTo>
                <a:lnTo>
                  <a:pt x="72041" y="26221"/>
                </a:lnTo>
                <a:lnTo>
                  <a:pt x="0" y="524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79670" y="2918146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0" y="52442"/>
                </a:moveTo>
                <a:lnTo>
                  <a:pt x="72041" y="26221"/>
                </a:lnTo>
                <a:lnTo>
                  <a:pt x="0" y="0"/>
                </a:lnTo>
                <a:lnTo>
                  <a:pt x="0" y="52442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49040" y="2688335"/>
            <a:ext cx="1325879" cy="219455"/>
          </a:xfrm>
          <a:custGeom>
            <a:avLst/>
            <a:gdLst/>
            <a:ahLst/>
            <a:cxnLst/>
            <a:rect l="l" t="t" r="r" b="b"/>
            <a:pathLst>
              <a:path w="1325879" h="219455">
                <a:moveTo>
                  <a:pt x="0" y="0"/>
                </a:moveTo>
                <a:lnTo>
                  <a:pt x="1325879" y="0"/>
                </a:lnTo>
                <a:lnTo>
                  <a:pt x="1325879" y="219455"/>
                </a:lnTo>
                <a:lnTo>
                  <a:pt x="0" y="21945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198082" y="2724911"/>
            <a:ext cx="427990" cy="1555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 smtClean="0">
                <a:solidFill>
                  <a:srgbClr val="333333"/>
                </a:solidFill>
                <a:latin typeface="Calibri"/>
                <a:cs typeface="Calibri"/>
              </a:rPr>
              <a:t>searches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383279" y="2487167"/>
            <a:ext cx="0" cy="182879"/>
          </a:xfrm>
          <a:custGeom>
            <a:avLst/>
            <a:gdLst/>
            <a:ahLst/>
            <a:cxnLst/>
            <a:rect l="l" t="t" r="r" b="b"/>
            <a:pathLst>
              <a:path h="182879">
                <a:moveTo>
                  <a:pt x="0" y="0"/>
                </a:moveTo>
                <a:lnTo>
                  <a:pt x="0" y="182879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83279" y="2487167"/>
            <a:ext cx="0" cy="182879"/>
          </a:xfrm>
          <a:custGeom>
            <a:avLst/>
            <a:gdLst/>
            <a:ahLst/>
            <a:cxnLst/>
            <a:rect l="l" t="t" r="r" b="b"/>
            <a:pathLst>
              <a:path h="182879">
                <a:moveTo>
                  <a:pt x="0" y="0"/>
                </a:moveTo>
                <a:lnTo>
                  <a:pt x="0" y="182879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83279" y="2487167"/>
            <a:ext cx="6446519" cy="0"/>
          </a:xfrm>
          <a:custGeom>
            <a:avLst/>
            <a:gdLst/>
            <a:ahLst/>
            <a:cxnLst/>
            <a:rect l="l" t="t" r="r" b="b"/>
            <a:pathLst>
              <a:path w="6446519">
                <a:moveTo>
                  <a:pt x="-3383279" y="-2487167"/>
                </a:moveTo>
                <a:lnTo>
                  <a:pt x="-3383279" y="-248716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383279" y="2487167"/>
            <a:ext cx="6446519" cy="0"/>
          </a:xfrm>
          <a:custGeom>
            <a:avLst/>
            <a:gdLst/>
            <a:ahLst/>
            <a:cxnLst/>
            <a:rect l="l" t="t" r="r" b="b"/>
            <a:pathLst>
              <a:path w="6446519">
                <a:moveTo>
                  <a:pt x="0" y="0"/>
                </a:moveTo>
                <a:lnTo>
                  <a:pt x="6446519" y="0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829800" y="2487167"/>
            <a:ext cx="0" cy="182879"/>
          </a:xfrm>
          <a:custGeom>
            <a:avLst/>
            <a:gdLst/>
            <a:ahLst/>
            <a:cxnLst/>
            <a:rect l="l" t="t" r="r" b="b"/>
            <a:pathLst>
              <a:path h="182879">
                <a:moveTo>
                  <a:pt x="0" y="0"/>
                </a:moveTo>
                <a:lnTo>
                  <a:pt x="0" y="182879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829800" y="2487167"/>
            <a:ext cx="0" cy="87629"/>
          </a:xfrm>
          <a:custGeom>
            <a:avLst/>
            <a:gdLst/>
            <a:ahLst/>
            <a:cxnLst/>
            <a:rect l="l" t="t" r="r" b="b"/>
            <a:pathLst>
              <a:path h="87629">
                <a:moveTo>
                  <a:pt x="0" y="0"/>
                </a:moveTo>
                <a:lnTo>
                  <a:pt x="0" y="87629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803579" y="2574798"/>
            <a:ext cx="52441" cy="72042"/>
          </a:xfrm>
          <a:custGeom>
            <a:avLst/>
            <a:gdLst/>
            <a:ahLst/>
            <a:cxnLst/>
            <a:rect l="l" t="t" r="r" b="b"/>
            <a:pathLst>
              <a:path w="52441" h="72042">
                <a:moveTo>
                  <a:pt x="26220" y="72042"/>
                </a:moveTo>
                <a:lnTo>
                  <a:pt x="0" y="0"/>
                </a:lnTo>
                <a:lnTo>
                  <a:pt x="52441" y="0"/>
                </a:lnTo>
                <a:lnTo>
                  <a:pt x="26220" y="720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803579" y="2574798"/>
            <a:ext cx="52441" cy="72042"/>
          </a:xfrm>
          <a:custGeom>
            <a:avLst/>
            <a:gdLst/>
            <a:ahLst/>
            <a:cxnLst/>
            <a:rect l="l" t="t" r="r" b="b"/>
            <a:pathLst>
              <a:path w="52441" h="72042">
                <a:moveTo>
                  <a:pt x="0" y="0"/>
                </a:moveTo>
                <a:lnTo>
                  <a:pt x="26220" y="72042"/>
                </a:lnTo>
                <a:lnTo>
                  <a:pt x="52441" y="0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86200" y="2249423"/>
            <a:ext cx="822959" cy="219455"/>
          </a:xfrm>
          <a:custGeom>
            <a:avLst/>
            <a:gdLst/>
            <a:ahLst/>
            <a:cxnLst/>
            <a:rect l="l" t="t" r="r" b="b"/>
            <a:pathLst>
              <a:path w="822959" h="219455">
                <a:moveTo>
                  <a:pt x="0" y="0"/>
                </a:moveTo>
                <a:lnTo>
                  <a:pt x="822959" y="0"/>
                </a:lnTo>
                <a:lnTo>
                  <a:pt x="822959" y="219455"/>
                </a:lnTo>
                <a:lnTo>
                  <a:pt x="0" y="21945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194371" y="2286000"/>
            <a:ext cx="207010" cy="1555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 smtClean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900" i="1" spc="-10" dirty="0" smtClean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900" i="1" spc="-5" dirty="0" smtClean="0">
                <a:solidFill>
                  <a:srgbClr val="333333"/>
                </a:solidFill>
                <a:latin typeface="Calibri"/>
                <a:cs typeface="Calibri"/>
              </a:rPr>
              <a:t>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74920" y="3822192"/>
            <a:ext cx="2606039" cy="548639"/>
          </a:xfrm>
          <a:custGeom>
            <a:avLst/>
            <a:gdLst/>
            <a:ahLst/>
            <a:cxnLst/>
            <a:rect l="l" t="t" r="r" b="b"/>
            <a:pathLst>
              <a:path w="2606039" h="548639">
                <a:moveTo>
                  <a:pt x="0" y="0"/>
                </a:moveTo>
                <a:lnTo>
                  <a:pt x="2606039" y="0"/>
                </a:lnTo>
                <a:lnTo>
                  <a:pt x="2606039" y="548639"/>
                </a:lnTo>
                <a:lnTo>
                  <a:pt x="0" y="54863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074920" y="3822192"/>
            <a:ext cx="2606039" cy="548639"/>
          </a:xfrm>
          <a:custGeom>
            <a:avLst/>
            <a:gdLst/>
            <a:ahLst/>
            <a:cxnLst/>
            <a:rect l="l" t="t" r="r" b="b"/>
            <a:pathLst>
              <a:path w="2606039" h="548639">
                <a:moveTo>
                  <a:pt x="0" y="0"/>
                </a:moveTo>
                <a:lnTo>
                  <a:pt x="2606039" y="0"/>
                </a:lnTo>
                <a:lnTo>
                  <a:pt x="2606039" y="548639"/>
                </a:lnTo>
                <a:lnTo>
                  <a:pt x="0" y="548639"/>
                </a:lnTo>
                <a:lnTo>
                  <a:pt x="0" y="0"/>
                </a:lnTo>
                <a:close/>
              </a:path>
            </a:pathLst>
          </a:custGeom>
          <a:noFill/>
          <a:ln w="25399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564936" y="3982720"/>
            <a:ext cx="1625600" cy="2349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BIND = </a:t>
            </a:r>
            <a:r>
              <a:rPr sz="1400" b="1" spc="-15" dirty="0" smtClean="0">
                <a:solidFill>
                  <a:srgbClr val="333333"/>
                </a:solidFill>
                <a:latin typeface="Calibri"/>
                <a:cs typeface="Calibri"/>
              </a:rPr>
              <a:t>m</a:t>
            </a:r>
            <a:r>
              <a:rPr sz="1400" b="1" spc="-25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b="1" spc="0" dirty="0" smtClean="0">
                <a:solidFill>
                  <a:srgbClr val="333333"/>
                </a:solidFill>
                <a:latin typeface="Calibri"/>
                <a:cs typeface="Calibri"/>
              </a:rPr>
              <a:t>x </a:t>
            </a:r>
            <a:r>
              <a:rPr sz="1400" b="1" spc="-5" dirty="0" smtClean="0">
                <a:solidFill>
                  <a:srgbClr val="333333"/>
                </a:solidFill>
                <a:latin typeface="Calibri"/>
                <a:cs typeface="Calibri"/>
              </a:rPr>
              <a:t>( </a:t>
            </a:r>
            <a:r>
              <a:rPr sz="14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PF </a:t>
            </a:r>
            <a:r>
              <a:rPr sz="1400" b="1" spc="-5" dirty="0" smtClean="0">
                <a:solidFill>
                  <a:srgbClr val="333333"/>
                </a:solidFill>
                <a:latin typeface="Calibri"/>
                <a:cs typeface="Calibri"/>
              </a:rPr>
              <a:t>,  </a:t>
            </a:r>
            <a:r>
              <a:rPr sz="14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PL </a:t>
            </a:r>
            <a:r>
              <a:rPr sz="1400" b="1" spc="-5" dirty="0" smtClean="0">
                <a:solidFill>
                  <a:srgbClr val="333333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680959" y="2029967"/>
            <a:ext cx="274319" cy="0"/>
          </a:xfrm>
          <a:custGeom>
            <a:avLst/>
            <a:gdLst/>
            <a:ahLst/>
            <a:cxnLst/>
            <a:rect l="l" t="t" r="r" b="b"/>
            <a:pathLst>
              <a:path w="274319">
                <a:moveTo>
                  <a:pt x="0" y="0"/>
                </a:moveTo>
                <a:lnTo>
                  <a:pt x="274319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680959" y="2029967"/>
            <a:ext cx="274319" cy="0"/>
          </a:xfrm>
          <a:custGeom>
            <a:avLst/>
            <a:gdLst/>
            <a:ahLst/>
            <a:cxnLst/>
            <a:rect l="l" t="t" r="r" b="b"/>
            <a:pathLst>
              <a:path w="274319">
                <a:moveTo>
                  <a:pt x="0" y="0"/>
                </a:moveTo>
                <a:lnTo>
                  <a:pt x="274319" y="0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955280" y="2029967"/>
            <a:ext cx="0" cy="2066543"/>
          </a:xfrm>
          <a:custGeom>
            <a:avLst/>
            <a:gdLst/>
            <a:ahLst/>
            <a:cxnLst/>
            <a:rect l="l" t="t" r="r" b="b"/>
            <a:pathLst>
              <a:path h="2066543">
                <a:moveTo>
                  <a:pt x="-7955279" y="-2029967"/>
                </a:moveTo>
                <a:lnTo>
                  <a:pt x="-7955279" y="-202996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955280" y="2029967"/>
            <a:ext cx="0" cy="2066543"/>
          </a:xfrm>
          <a:custGeom>
            <a:avLst/>
            <a:gdLst/>
            <a:ahLst/>
            <a:cxnLst/>
            <a:rect l="l" t="t" r="r" b="b"/>
            <a:pathLst>
              <a:path h="2066543">
                <a:moveTo>
                  <a:pt x="0" y="0"/>
                </a:moveTo>
                <a:lnTo>
                  <a:pt x="0" y="2066543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80959" y="4096511"/>
            <a:ext cx="274319" cy="0"/>
          </a:xfrm>
          <a:custGeom>
            <a:avLst/>
            <a:gdLst/>
            <a:ahLst/>
            <a:cxnLst/>
            <a:rect l="l" t="t" r="r" b="b"/>
            <a:pathLst>
              <a:path w="274319">
                <a:moveTo>
                  <a:pt x="0" y="0"/>
                </a:moveTo>
                <a:lnTo>
                  <a:pt x="274319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776209" y="4096511"/>
            <a:ext cx="179069" cy="0"/>
          </a:xfrm>
          <a:custGeom>
            <a:avLst/>
            <a:gdLst/>
            <a:ahLst/>
            <a:cxnLst/>
            <a:rect l="l" t="t" r="r" b="b"/>
            <a:pathLst>
              <a:path w="179069">
                <a:moveTo>
                  <a:pt x="0" y="0"/>
                </a:moveTo>
                <a:lnTo>
                  <a:pt x="179069" y="0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704167" y="4070291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72041" y="52442"/>
                </a:moveTo>
                <a:lnTo>
                  <a:pt x="0" y="26220"/>
                </a:lnTo>
                <a:lnTo>
                  <a:pt x="72041" y="0"/>
                </a:lnTo>
                <a:lnTo>
                  <a:pt x="72041" y="524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704167" y="4070291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72041" y="0"/>
                </a:moveTo>
                <a:lnTo>
                  <a:pt x="0" y="26220"/>
                </a:lnTo>
                <a:lnTo>
                  <a:pt x="72041" y="52442"/>
                </a:lnTo>
                <a:lnTo>
                  <a:pt x="72041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377940" y="3218688"/>
            <a:ext cx="0" cy="603504"/>
          </a:xfrm>
          <a:custGeom>
            <a:avLst/>
            <a:gdLst/>
            <a:ahLst/>
            <a:cxnLst/>
            <a:rect l="l" t="t" r="r" b="b"/>
            <a:pathLst>
              <a:path h="603504">
                <a:moveTo>
                  <a:pt x="-6377939" y="-3218687"/>
                </a:moveTo>
                <a:lnTo>
                  <a:pt x="-6377939" y="-32186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377940" y="3218688"/>
            <a:ext cx="0" cy="508254"/>
          </a:xfrm>
          <a:custGeom>
            <a:avLst/>
            <a:gdLst/>
            <a:ahLst/>
            <a:cxnLst/>
            <a:rect l="l" t="t" r="r" b="b"/>
            <a:pathLst>
              <a:path h="508254">
                <a:moveTo>
                  <a:pt x="0" y="0"/>
                </a:moveTo>
                <a:lnTo>
                  <a:pt x="0" y="508254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351718" y="3726942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26221" y="72042"/>
                </a:moveTo>
                <a:lnTo>
                  <a:pt x="0" y="0"/>
                </a:lnTo>
                <a:lnTo>
                  <a:pt x="52442" y="0"/>
                </a:lnTo>
                <a:lnTo>
                  <a:pt x="26221" y="720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351718" y="3726942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0" y="0"/>
                </a:moveTo>
                <a:lnTo>
                  <a:pt x="26221" y="72042"/>
                </a:lnTo>
                <a:lnTo>
                  <a:pt x="52442" y="0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749040" y="4096511"/>
            <a:ext cx="1325879" cy="0"/>
          </a:xfrm>
          <a:custGeom>
            <a:avLst/>
            <a:gdLst/>
            <a:ahLst/>
            <a:cxnLst/>
            <a:rect l="l" t="t" r="r" b="b"/>
            <a:pathLst>
              <a:path w="1325879">
                <a:moveTo>
                  <a:pt x="-3749039" y="-4096511"/>
                </a:moveTo>
                <a:lnTo>
                  <a:pt x="-3749039" y="-409651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749040" y="4096511"/>
            <a:ext cx="1230629" cy="0"/>
          </a:xfrm>
          <a:custGeom>
            <a:avLst/>
            <a:gdLst/>
            <a:ahLst/>
            <a:cxnLst/>
            <a:rect l="l" t="t" r="r" b="b"/>
            <a:pathLst>
              <a:path w="1230629">
                <a:moveTo>
                  <a:pt x="0" y="0"/>
                </a:moveTo>
                <a:lnTo>
                  <a:pt x="1230629" y="0"/>
                </a:lnTo>
              </a:path>
            </a:pathLst>
          </a:custGeom>
          <a:ln w="15874">
            <a:solidFill>
              <a:srgbClr val="007B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979670" y="4070291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0" y="52442"/>
                </a:moveTo>
                <a:lnTo>
                  <a:pt x="0" y="0"/>
                </a:lnTo>
                <a:lnTo>
                  <a:pt x="72041" y="26220"/>
                </a:lnTo>
                <a:lnTo>
                  <a:pt x="0" y="524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979670" y="4070291"/>
            <a:ext cx="72041" cy="52442"/>
          </a:xfrm>
          <a:custGeom>
            <a:avLst/>
            <a:gdLst/>
            <a:ahLst/>
            <a:cxnLst/>
            <a:rect l="l" t="t" r="r" b="b"/>
            <a:pathLst>
              <a:path w="72041" h="52442">
                <a:moveTo>
                  <a:pt x="0" y="52442"/>
                </a:moveTo>
                <a:lnTo>
                  <a:pt x="72041" y="26220"/>
                </a:lnTo>
                <a:lnTo>
                  <a:pt x="0" y="0"/>
                </a:lnTo>
                <a:lnTo>
                  <a:pt x="0" y="52442"/>
                </a:lnTo>
                <a:close/>
              </a:path>
            </a:pathLst>
          </a:custGeom>
          <a:noFill/>
          <a:ln w="15874">
            <a:solidFill>
              <a:srgbClr val="007B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49040" y="3840479"/>
            <a:ext cx="1325879" cy="219455"/>
          </a:xfrm>
          <a:custGeom>
            <a:avLst/>
            <a:gdLst/>
            <a:ahLst/>
            <a:cxnLst/>
            <a:rect l="l" t="t" r="r" b="b"/>
            <a:pathLst>
              <a:path w="1325879" h="219455">
                <a:moveTo>
                  <a:pt x="0" y="0"/>
                </a:moveTo>
                <a:lnTo>
                  <a:pt x="1325879" y="0"/>
                </a:lnTo>
                <a:lnTo>
                  <a:pt x="1325879" y="219455"/>
                </a:lnTo>
                <a:lnTo>
                  <a:pt x="0" y="21945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4146821" y="3877056"/>
            <a:ext cx="530225" cy="1555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 smtClean="0">
                <a:solidFill>
                  <a:srgbClr val="007B6E"/>
                </a:solidFill>
                <a:latin typeface="Calibri"/>
                <a:cs typeface="Calibri"/>
              </a:rPr>
              <a:t>acts within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434840" y="4828032"/>
            <a:ext cx="3200399" cy="548639"/>
          </a:xfrm>
          <a:custGeom>
            <a:avLst/>
            <a:gdLst/>
            <a:ahLst/>
            <a:cxnLst/>
            <a:rect l="l" t="t" r="r" b="b"/>
            <a:pathLst>
              <a:path w="3200399" h="548639">
                <a:moveTo>
                  <a:pt x="0" y="0"/>
                </a:moveTo>
                <a:lnTo>
                  <a:pt x="3200399" y="0"/>
                </a:lnTo>
                <a:lnTo>
                  <a:pt x="3200399" y="548639"/>
                </a:lnTo>
                <a:lnTo>
                  <a:pt x="0" y="54863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55555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77940" y="4370832"/>
            <a:ext cx="0" cy="457199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-6377939" y="-4370831"/>
                </a:moveTo>
                <a:lnTo>
                  <a:pt x="-6377939" y="-437083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377940" y="4370832"/>
            <a:ext cx="0" cy="361949"/>
          </a:xfrm>
          <a:custGeom>
            <a:avLst/>
            <a:gdLst/>
            <a:ahLst/>
            <a:cxnLst/>
            <a:rect l="l" t="t" r="r" b="b"/>
            <a:pathLst>
              <a:path h="361949">
                <a:moveTo>
                  <a:pt x="0" y="0"/>
                </a:moveTo>
                <a:lnTo>
                  <a:pt x="0" y="361949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351718" y="4732782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26221" y="72042"/>
                </a:moveTo>
                <a:lnTo>
                  <a:pt x="0" y="0"/>
                </a:lnTo>
                <a:lnTo>
                  <a:pt x="52442" y="0"/>
                </a:lnTo>
                <a:lnTo>
                  <a:pt x="26221" y="720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351718" y="4732782"/>
            <a:ext cx="52442" cy="72042"/>
          </a:xfrm>
          <a:custGeom>
            <a:avLst/>
            <a:gdLst/>
            <a:ahLst/>
            <a:cxnLst/>
            <a:rect l="l" t="t" r="r" b="b"/>
            <a:pathLst>
              <a:path w="52442" h="72042">
                <a:moveTo>
                  <a:pt x="0" y="0"/>
                </a:moveTo>
                <a:lnTo>
                  <a:pt x="26221" y="72042"/>
                </a:lnTo>
                <a:lnTo>
                  <a:pt x="52442" y="0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829800" y="3218688"/>
            <a:ext cx="0" cy="1883663"/>
          </a:xfrm>
          <a:custGeom>
            <a:avLst/>
            <a:gdLst/>
            <a:ahLst/>
            <a:cxnLst/>
            <a:rect l="l" t="t" r="r" b="b"/>
            <a:pathLst>
              <a:path h="1883663">
                <a:moveTo>
                  <a:pt x="-9829799" y="-3218687"/>
                </a:moveTo>
                <a:lnTo>
                  <a:pt x="-9829799" y="-32186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829800" y="3218688"/>
            <a:ext cx="0" cy="1883663"/>
          </a:xfrm>
          <a:custGeom>
            <a:avLst/>
            <a:gdLst/>
            <a:ahLst/>
            <a:cxnLst/>
            <a:rect l="l" t="t" r="r" b="b"/>
            <a:pathLst>
              <a:path h="1883663">
                <a:moveTo>
                  <a:pt x="0" y="0"/>
                </a:moveTo>
                <a:lnTo>
                  <a:pt x="0" y="1883663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635240" y="5102352"/>
            <a:ext cx="2194559" cy="0"/>
          </a:xfrm>
          <a:custGeom>
            <a:avLst/>
            <a:gdLst/>
            <a:ahLst/>
            <a:cxnLst/>
            <a:rect l="l" t="t" r="r" b="b"/>
            <a:pathLst>
              <a:path w="2194559">
                <a:moveTo>
                  <a:pt x="-7635239" y="-5102351"/>
                </a:moveTo>
                <a:lnTo>
                  <a:pt x="-7635239" y="-51023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730490" y="5102352"/>
            <a:ext cx="2099309" cy="0"/>
          </a:xfrm>
          <a:custGeom>
            <a:avLst/>
            <a:gdLst/>
            <a:ahLst/>
            <a:cxnLst/>
            <a:rect l="l" t="t" r="r" b="b"/>
            <a:pathLst>
              <a:path w="2099309">
                <a:moveTo>
                  <a:pt x="0" y="0"/>
                </a:moveTo>
                <a:lnTo>
                  <a:pt x="2099309" y="0"/>
                </a:lnTo>
              </a:path>
            </a:pathLst>
          </a:custGeom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658447" y="5076130"/>
            <a:ext cx="72042" cy="52442"/>
          </a:xfrm>
          <a:custGeom>
            <a:avLst/>
            <a:gdLst/>
            <a:ahLst/>
            <a:cxnLst/>
            <a:rect l="l" t="t" r="r" b="b"/>
            <a:pathLst>
              <a:path w="72042" h="52442">
                <a:moveTo>
                  <a:pt x="72042" y="52442"/>
                </a:moveTo>
                <a:lnTo>
                  <a:pt x="0" y="26221"/>
                </a:lnTo>
                <a:lnTo>
                  <a:pt x="72042" y="0"/>
                </a:lnTo>
                <a:lnTo>
                  <a:pt x="72042" y="52442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658447" y="5076130"/>
            <a:ext cx="72042" cy="52442"/>
          </a:xfrm>
          <a:custGeom>
            <a:avLst/>
            <a:gdLst/>
            <a:ahLst/>
            <a:cxnLst/>
            <a:rect l="l" t="t" r="r" b="b"/>
            <a:pathLst>
              <a:path w="72042" h="52442">
                <a:moveTo>
                  <a:pt x="72042" y="0"/>
                </a:moveTo>
                <a:lnTo>
                  <a:pt x="0" y="26221"/>
                </a:lnTo>
                <a:lnTo>
                  <a:pt x="72042" y="52442"/>
                </a:lnTo>
                <a:lnTo>
                  <a:pt x="72042" y="0"/>
                </a:lnTo>
                <a:close/>
              </a:path>
            </a:pathLst>
          </a:custGeom>
          <a:noFill/>
          <a:ln w="15874">
            <a:solidFill>
              <a:srgbClr val="3333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863840" y="4846320"/>
            <a:ext cx="1463039" cy="219456"/>
          </a:xfrm>
          <a:custGeom>
            <a:avLst/>
            <a:gdLst/>
            <a:ahLst/>
            <a:cxnLst/>
            <a:rect l="l" t="t" r="r" b="b"/>
            <a:pathLst>
              <a:path w="1463039" h="219456">
                <a:moveTo>
                  <a:pt x="0" y="0"/>
                </a:moveTo>
                <a:lnTo>
                  <a:pt x="1463039" y="0"/>
                </a:lnTo>
                <a:lnTo>
                  <a:pt x="1463039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4866764" y="4498847"/>
            <a:ext cx="4073525" cy="7092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502284" algn="ctr">
              <a:lnSpc>
                <a:spcPct val="100000"/>
              </a:lnSpc>
            </a:pPr>
            <a:r>
              <a:rPr sz="900" i="1" spc="-5" dirty="0" smtClean="0">
                <a:solidFill>
                  <a:srgbClr val="333333"/>
                </a:solidFill>
                <a:latin typeface="Calibri"/>
                <a:cs typeface="Calibri"/>
              </a:rPr>
              <a:t>where it bends</a:t>
            </a:r>
            <a:endParaRPr sz="900">
              <a:latin typeface="Calibri"/>
              <a:cs typeface="Calibri"/>
            </a:endParaRPr>
          </a:p>
          <a:p>
            <a:pPr>
              <a:lnSpc>
                <a:spcPts val="900"/>
              </a:lnSpc>
              <a:spcBef>
                <a:spcPts val="44"/>
              </a:spcBef>
            </a:pPr>
            <a:endParaRPr sz="900"/>
          </a:p>
          <a:p>
            <a:pPr>
              <a:lnSpc>
                <a:spcPts val="1000"/>
              </a:lnSpc>
            </a:pPr>
            <a:endParaRPr sz="1000"/>
          </a:p>
          <a:p>
            <a:pPr marR="12700" algn="r">
              <a:lnSpc>
                <a:spcPct val="100000"/>
              </a:lnSpc>
            </a:pPr>
            <a:r>
              <a:rPr sz="900" i="1" spc="-5" dirty="0" smtClean="0">
                <a:solidFill>
                  <a:srgbClr val="333333"/>
                </a:solidFill>
                <a:latin typeface="Calibri"/>
                <a:cs typeface="Calibri"/>
              </a:rPr>
              <a:t>where it </a:t>
            </a:r>
            <a:r>
              <a:rPr sz="900" i="1" spc="-10" dirty="0" smtClean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900" i="1" spc="-20" dirty="0" smtClean="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sz="900" i="1" spc="-5" dirty="0" smtClean="0">
                <a:solidFill>
                  <a:srgbClr val="333333"/>
                </a:solidFill>
                <a:latin typeface="Calibri"/>
                <a:cs typeface="Calibri"/>
              </a:rPr>
              <a:t>arts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1320"/>
              </a:lnSpc>
            </a:pPr>
            <a:r>
              <a:rPr sz="12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mean </a:t>
            </a:r>
            <a:r>
              <a:rPr sz="1200" b="1" spc="-5" dirty="0" smtClean="0">
                <a:solidFill>
                  <a:srgbClr val="333333"/>
                </a:solidFill>
                <a:latin typeface="Calibri"/>
                <a:cs typeface="Calibri"/>
              </a:rPr>
              <a:t>del</a:t>
            </a:r>
            <a:r>
              <a:rPr sz="1200" b="1" spc="-35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2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y </a:t>
            </a:r>
            <a:r>
              <a:rPr sz="1200" b="1" spc="-5" dirty="0" smtClean="0">
                <a:solidFill>
                  <a:srgbClr val="333333"/>
                </a:solidFill>
                <a:latin typeface="Calibri"/>
                <a:cs typeface="Calibri"/>
              </a:rPr>
              <a:t>/ </a:t>
            </a:r>
            <a:r>
              <a:rPr sz="12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p99 </a:t>
            </a:r>
            <a:r>
              <a:rPr sz="1200" b="1" spc="10" dirty="0" smtClean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b="1" spc="0" dirty="0" smtClean="0">
                <a:solidFill>
                  <a:srgbClr val="333333"/>
                </a:solidFill>
                <a:latin typeface="Arial"/>
                <a:cs typeface="Arial"/>
              </a:rPr>
              <a:t>→ </a:t>
            </a:r>
            <a:r>
              <a:rPr sz="1200" b="1" spc="-125" dirty="0" smtClean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b="1" spc="-5" dirty="0" smtClean="0">
                <a:solidFill>
                  <a:srgbClr val="333333"/>
                </a:solidFill>
                <a:latin typeface="Calibri"/>
                <a:cs typeface="Calibri"/>
              </a:rPr>
              <a:t>i</a:t>
            </a:r>
            <a:r>
              <a:rPr sz="1200" b="1" spc="-20" dirty="0" smtClean="0">
                <a:solidFill>
                  <a:srgbClr val="333333"/>
                </a:solidFill>
                <a:latin typeface="Calibri"/>
                <a:cs typeface="Calibri"/>
              </a:rPr>
              <a:t>n</a:t>
            </a:r>
            <a:r>
              <a:rPr sz="1200" b="1" spc="-25" dirty="0" smtClean="0">
                <a:solidFill>
                  <a:srgbClr val="333333"/>
                </a:solidFill>
                <a:latin typeface="Calibri"/>
                <a:cs typeface="Calibri"/>
              </a:rPr>
              <a:t>f</a:t>
            </a:r>
            <a:r>
              <a:rPr sz="1200" b="1" spc="0" dirty="0" smtClean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1200" b="1" spc="-15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200" b="1" spc="-10" dirty="0" smtClean="0">
                <a:solidFill>
                  <a:srgbClr val="333333"/>
                </a:solidFill>
                <a:latin typeface="Calibri"/>
                <a:cs typeface="Calibri"/>
              </a:rPr>
              <a:t>ence time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791476" y="5702174"/>
            <a:ext cx="9555479" cy="914399"/>
          </a:xfrm>
          <a:custGeom>
            <a:avLst/>
            <a:gdLst/>
            <a:ahLst/>
            <a:cxnLst/>
            <a:rect l="l" t="t" r="r" b="b"/>
            <a:pathLst>
              <a:path w="9555479" h="914399">
                <a:moveTo>
                  <a:pt x="27431" y="914399"/>
                </a:moveTo>
                <a:lnTo>
                  <a:pt x="13805" y="910781"/>
                </a:lnTo>
                <a:lnTo>
                  <a:pt x="4004" y="901247"/>
                </a:lnTo>
                <a:lnTo>
                  <a:pt x="11" y="887779"/>
                </a:lnTo>
                <a:lnTo>
                  <a:pt x="0" y="27431"/>
                </a:lnTo>
                <a:lnTo>
                  <a:pt x="3618" y="13805"/>
                </a:lnTo>
                <a:lnTo>
                  <a:pt x="13152" y="4004"/>
                </a:lnTo>
                <a:lnTo>
                  <a:pt x="26620" y="11"/>
                </a:lnTo>
                <a:lnTo>
                  <a:pt x="9528047" y="0"/>
                </a:lnTo>
                <a:lnTo>
                  <a:pt x="9535323" y="0"/>
                </a:lnTo>
                <a:lnTo>
                  <a:pt x="9542300" y="2889"/>
                </a:lnTo>
                <a:lnTo>
                  <a:pt x="9552589" y="13178"/>
                </a:lnTo>
                <a:lnTo>
                  <a:pt x="9555479" y="20156"/>
                </a:lnTo>
                <a:lnTo>
                  <a:pt x="9555479" y="886967"/>
                </a:lnTo>
                <a:lnTo>
                  <a:pt x="9551861" y="900594"/>
                </a:lnTo>
                <a:lnTo>
                  <a:pt x="9542327" y="910394"/>
                </a:lnTo>
                <a:lnTo>
                  <a:pt x="9528859" y="914388"/>
                </a:lnTo>
                <a:lnTo>
                  <a:pt x="27431" y="914399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417319" y="5596127"/>
            <a:ext cx="9555479" cy="914399"/>
          </a:xfrm>
          <a:custGeom>
            <a:avLst/>
            <a:gdLst/>
            <a:ahLst/>
            <a:cxnLst/>
            <a:rect l="l" t="t" r="r" b="b"/>
            <a:pathLst>
              <a:path w="9555479" h="914399">
                <a:moveTo>
                  <a:pt x="0" y="27431"/>
                </a:moveTo>
                <a:lnTo>
                  <a:pt x="3618" y="13805"/>
                </a:lnTo>
                <a:lnTo>
                  <a:pt x="13152" y="4004"/>
                </a:lnTo>
                <a:lnTo>
                  <a:pt x="26620" y="11"/>
                </a:lnTo>
                <a:lnTo>
                  <a:pt x="9528047" y="0"/>
                </a:lnTo>
                <a:lnTo>
                  <a:pt x="9535323" y="0"/>
                </a:lnTo>
                <a:lnTo>
                  <a:pt x="9542300" y="2889"/>
                </a:lnTo>
                <a:lnTo>
                  <a:pt x="9547445" y="8034"/>
                </a:lnTo>
                <a:lnTo>
                  <a:pt x="9552589" y="13178"/>
                </a:lnTo>
                <a:lnTo>
                  <a:pt x="9555479" y="20156"/>
                </a:lnTo>
                <a:lnTo>
                  <a:pt x="9555479" y="27431"/>
                </a:lnTo>
                <a:lnTo>
                  <a:pt x="9555479" y="886967"/>
                </a:lnTo>
                <a:lnTo>
                  <a:pt x="9551861" y="900594"/>
                </a:lnTo>
                <a:lnTo>
                  <a:pt x="9542327" y="910394"/>
                </a:lnTo>
                <a:lnTo>
                  <a:pt x="9528859" y="914388"/>
                </a:lnTo>
                <a:lnTo>
                  <a:pt x="27431" y="914399"/>
                </a:lnTo>
                <a:lnTo>
                  <a:pt x="13805" y="910781"/>
                </a:lnTo>
                <a:lnTo>
                  <a:pt x="4004" y="901247"/>
                </a:lnTo>
                <a:lnTo>
                  <a:pt x="11" y="887779"/>
                </a:lnTo>
                <a:lnTo>
                  <a:pt x="0" y="27431"/>
                </a:lnTo>
                <a:close/>
              </a:path>
            </a:pathLst>
          </a:custGeom>
          <a:noFill/>
          <a:ln w="12699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507904" y="5799963"/>
            <a:ext cx="9003030" cy="5156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050" b="1" spc="-5" dirty="0" smtClean="0">
                <a:solidFill>
                  <a:srgbClr val="1465C0"/>
                </a:solidFill>
                <a:latin typeface="Calibri"/>
                <a:cs typeface="Calibri"/>
              </a:rPr>
              <a:t>PL &lt; </a:t>
            </a:r>
            <a:r>
              <a:rPr sz="1050" b="1" spc="-10" dirty="0" smtClean="0">
                <a:solidFill>
                  <a:srgbClr val="1465C0"/>
                </a:solidFill>
                <a:latin typeface="Calibri"/>
                <a:cs typeface="Calibri"/>
              </a:rPr>
              <a:t>PF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—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packing s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ts the achi</a:t>
            </a:r>
            <a:r>
              <a:rPr sz="1050" spc="-15" dirty="0" smtClean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v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able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ope</a:t>
            </a:r>
            <a:r>
              <a:rPr sz="1050" spc="-30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ting poi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n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t;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mapping </a:t>
            </a:r>
            <a:r>
              <a:rPr sz="1050" spc="-15" dirty="0" smtClean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till decides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wh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ther 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sz="1050" spc="0" dirty="0" smtClean="0">
                <a:solidFill>
                  <a:srgbClr val="333333"/>
                </a:solidFill>
                <a:latin typeface="Calibri"/>
                <a:cs typeface="Calibri"/>
              </a:rPr>
              <a:t>ou 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each it, and its sp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ead is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decisi</a:t>
            </a:r>
            <a:r>
              <a:rPr sz="1050" spc="-15" dirty="0" smtClean="0">
                <a:solidFill>
                  <a:srgbClr val="333333"/>
                </a:solidFill>
                <a:latin typeface="Calibri"/>
                <a:cs typeface="Calibri"/>
              </a:rPr>
              <a:t>v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e a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 the knee.</a:t>
            </a: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b="1" spc="-5" dirty="0" smtClean="0">
                <a:solidFill>
                  <a:srgbClr val="C94F10"/>
                </a:solidFill>
                <a:latin typeface="Calibri"/>
                <a:cs typeface="Calibri"/>
              </a:rPr>
              <a:t>PL &gt; </a:t>
            </a:r>
            <a:r>
              <a:rPr sz="1050" b="1" spc="-10" dirty="0" smtClean="0">
                <a:solidFill>
                  <a:srgbClr val="C94F10"/>
                </a:solidFill>
                <a:latin typeface="Calibri"/>
                <a:cs typeface="Calibri"/>
              </a:rPr>
              <a:t>PF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— mapping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ts del</a:t>
            </a:r>
            <a:r>
              <a:rPr sz="1050" spc="-25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y outrig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h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t.</a:t>
            </a: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b="1" spc="-30" dirty="0" smtClean="0">
                <a:solidFill>
                  <a:srgbClr val="007B6E"/>
                </a:solidFill>
                <a:latin typeface="Calibri"/>
                <a:cs typeface="Calibri"/>
              </a:rPr>
              <a:t>R</a:t>
            </a:r>
            <a:r>
              <a:rPr sz="1050" b="1" spc="-5" dirty="0" smtClean="0">
                <a:solidFill>
                  <a:srgbClr val="007B6E"/>
                </a:solidFill>
                <a:latin typeface="Calibri"/>
                <a:cs typeface="Calibri"/>
              </a:rPr>
              <a:t>outing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—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bu</a:t>
            </a:r>
            <a:r>
              <a:rPr sz="1050" spc="-15" dirty="0" smtClean="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sz="1050" spc="0" dirty="0" smtClean="0">
                <a:solidFill>
                  <a:srgbClr val="333333"/>
                </a:solidFill>
                <a:latin typeface="Calibri"/>
                <a:cs typeface="Calibri"/>
              </a:rPr>
              <a:t>s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th</a:t>
            </a:r>
            <a:r>
              <a:rPr sz="1050" spc="-25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oughput abo</a:t>
            </a:r>
            <a:r>
              <a:rPr sz="1050" spc="-15" dirty="0" smtClean="0">
                <a:solidFill>
                  <a:srgbClr val="333333"/>
                </a:solidFill>
                <a:latin typeface="Calibri"/>
                <a:cs typeface="Calibri"/>
              </a:rPr>
              <a:t>v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e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the floo</a:t>
            </a:r>
            <a:r>
              <a:rPr sz="1050" spc="-95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, and in both 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egimes </a:t>
            </a:r>
            <a:r>
              <a:rPr sz="1050" spc="-15" dirty="0" smtClean="0">
                <a:solidFill>
                  <a:srgbClr val="333333"/>
                </a:solidFill>
                <a:latin typeface="Calibri"/>
                <a:cs typeface="Calibri"/>
              </a:rPr>
              <a:t>c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omp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esses the sp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ead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ac</a:t>
            </a:r>
            <a:r>
              <a:rPr sz="1050" spc="-25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0" dirty="0" smtClean="0">
                <a:solidFill>
                  <a:srgbClr val="333333"/>
                </a:solidFill>
                <a:latin typeface="Calibri"/>
                <a:cs typeface="Calibri"/>
              </a:rPr>
              <a:t>oss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placeme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n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ts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 the knee, 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re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turning the 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mapping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f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eedom </a:t>
            </a:r>
            <a:r>
              <a:rPr sz="1050" spc="-5" dirty="0" smtClean="0">
                <a:solidFill>
                  <a:srgbClr val="333333"/>
                </a:solidFill>
                <a:latin typeface="Calibri"/>
                <a:cs typeface="Calibri"/>
              </a:rPr>
              <a:t>PL </a:t>
            </a:r>
            <a:r>
              <a:rPr sz="1050" spc="-15" dirty="0" smtClean="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sz="1050" spc="-10" dirty="0" smtClean="0">
                <a:solidFill>
                  <a:srgbClr val="333333"/>
                </a:solidFill>
                <a:latin typeface="Calibri"/>
                <a:cs typeface="Calibri"/>
              </a:rPr>
              <a:t>ook a</a:t>
            </a:r>
            <a:r>
              <a:rPr sz="1050" spc="-25" dirty="0" smtClean="0">
                <a:solidFill>
                  <a:srgbClr val="333333"/>
                </a:solidFill>
                <a:latin typeface="Calibri"/>
                <a:cs typeface="Calibri"/>
              </a:rPr>
              <a:t>w</a:t>
            </a:r>
            <a:r>
              <a:rPr sz="1050" spc="-20" dirty="0" smtClean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050" spc="-75" dirty="0" smtClean="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sz="1050" spc="0" dirty="0" smtClean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91" name="object 3"/>
          <p:cNvSpPr/>
          <p:nvPr/>
        </p:nvSpPr>
        <p:spPr>
          <a:xfrm>
            <a:off x="4866764" y="830772"/>
            <a:ext cx="4300084" cy="548639"/>
          </a:xfrm>
          <a:custGeom>
            <a:avLst/>
            <a:gdLst/>
            <a:ahLst/>
            <a:cxnLst/>
            <a:rect l="l" t="t" r="r" b="b"/>
            <a:pathLst>
              <a:path w="2331719" h="548639">
                <a:moveTo>
                  <a:pt x="0" y="54863"/>
                </a:moveTo>
                <a:lnTo>
                  <a:pt x="15539" y="16606"/>
                </a:lnTo>
                <a:lnTo>
                  <a:pt x="53241" y="23"/>
                </a:lnTo>
                <a:lnTo>
                  <a:pt x="2276856" y="0"/>
                </a:lnTo>
                <a:lnTo>
                  <a:pt x="2289810" y="1551"/>
                </a:lnTo>
                <a:lnTo>
                  <a:pt x="2322047" y="24401"/>
                </a:lnTo>
                <a:lnTo>
                  <a:pt x="2331719" y="493775"/>
                </a:lnTo>
                <a:lnTo>
                  <a:pt x="2329828" y="508111"/>
                </a:lnTo>
                <a:lnTo>
                  <a:pt x="2305414" y="540630"/>
                </a:lnTo>
                <a:lnTo>
                  <a:pt x="54863" y="548639"/>
                </a:lnTo>
                <a:lnTo>
                  <a:pt x="40528" y="546748"/>
                </a:lnTo>
                <a:lnTo>
                  <a:pt x="8009" y="522335"/>
                </a:lnTo>
                <a:lnTo>
                  <a:pt x="0" y="54863"/>
                </a:lnTo>
                <a:close/>
              </a:path>
            </a:pathLst>
          </a:custGeom>
          <a:noFill/>
          <a:ln w="15874">
            <a:solidFill>
              <a:srgbClr val="1465C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504825">
              <a:lnSpc>
                <a:spcPct val="100000"/>
              </a:lnSpc>
            </a:pPr>
            <a:r>
              <a:rPr lang="en-US" b="1" spc="-25" dirty="0" smtClean="0">
                <a:solidFill>
                  <a:srgbClr val="1465C0"/>
                </a:solidFill>
                <a:cs typeface="Calibri"/>
              </a:rPr>
              <a:t>f</a:t>
            </a:r>
            <a:r>
              <a:rPr lang="en-US" b="1" dirty="0" smtClean="0">
                <a:solidFill>
                  <a:srgbClr val="1465C0"/>
                </a:solidFill>
                <a:cs typeface="Calibri"/>
              </a:rPr>
              <a:t>easible </a:t>
            </a:r>
            <a:r>
              <a:rPr lang="en-US" b="1" dirty="0">
                <a:solidFill>
                  <a:srgbClr val="1465C0"/>
                </a:solidFill>
                <a:cs typeface="Calibri"/>
              </a:rPr>
              <a:t>(</a:t>
            </a:r>
            <a:r>
              <a:rPr lang="en-US" b="1" spc="-90" dirty="0">
                <a:solidFill>
                  <a:srgbClr val="1465C0"/>
                </a:solidFill>
                <a:cs typeface="Calibri"/>
              </a:rPr>
              <a:t>r</a:t>
            </a:r>
            <a:r>
              <a:rPr lang="en-US" b="1" dirty="0">
                <a:solidFill>
                  <a:srgbClr val="1465C0"/>
                </a:solidFill>
                <a:cs typeface="Calibri"/>
              </a:rPr>
              <a:t>, s),  acti</a:t>
            </a:r>
            <a:r>
              <a:rPr lang="en-US" b="1" spc="-15" dirty="0">
                <a:solidFill>
                  <a:srgbClr val="1465C0"/>
                </a:solidFill>
                <a:cs typeface="Calibri"/>
              </a:rPr>
              <a:t>v</a:t>
            </a:r>
            <a:r>
              <a:rPr lang="en-US" b="1" dirty="0">
                <a:solidFill>
                  <a:srgbClr val="1465C0"/>
                </a:solidFill>
                <a:cs typeface="Calibri"/>
              </a:rPr>
              <a:t>e tiles</a:t>
            </a:r>
            <a:endParaRPr lang="en-US" dirty="0">
              <a:cs typeface="Calibri"/>
            </a:endParaRPr>
          </a:p>
          <a:p>
            <a:endParaRPr dirty="0"/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3749038" y="1089346"/>
            <a:ext cx="1165860" cy="15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878069" y="744449"/>
            <a:ext cx="873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" algn="ctr">
              <a:lnSpc>
                <a:spcPct val="100000"/>
              </a:lnSpc>
            </a:pPr>
            <a:r>
              <a:rPr lang="en-US" i="1" dirty="0" smtClean="0">
                <a:solidFill>
                  <a:srgbClr val="333333"/>
                </a:solidFill>
                <a:cs typeface="Calibri"/>
              </a:rPr>
              <a:t>bounds</a:t>
            </a:r>
            <a:endParaRPr lang="en-US" dirty="0"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36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168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Cross-layer design flow: what each layer fixes, and where it binds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fig_crosslayer</dc:title>
  <dc:creator>nizar</dc:creator>
  <cp:lastModifiedBy>nizar</cp:lastModifiedBy>
  <cp:revision>6</cp:revision>
  <dcterms:created xsi:type="dcterms:W3CDTF">2026-08-31T22:55:41Z</dcterms:created>
  <dcterms:modified xsi:type="dcterms:W3CDTF">2026-08-31T20:04:30Z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2026-08-31T00:00:00Z</vt:filetime>
  </property>
  <property fmtid="{D5CDD505-2E9C-101B-9397-08002B2CF9AE}" pid="3" name="LastSaved">
    <vt:filetime>2026-08-31T00:00:00Z</vt:filetime>
  </property>
</Properties>
</file>