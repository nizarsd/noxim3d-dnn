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768000" cy="2736000"/>
  <p:notesSz cx="6858000" cy="9144000"/>
  <p:defaultTextStyle>
    <a:defPPr>
      <a:defRPr lang="en-US"/>
    </a:defPPr>
    <a:lvl1pPr marL="0" algn="l">
      <a:defRPr sz="1800">
        <a:latin typeface="Times New Roman"/>
      </a:defRPr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"/>
          <p:cNvSpPr/>
          <p:nvPr/>
        </p:nvSpPr>
        <p:spPr>
          <a:xfrm rot="0">
            <a:off x="324000" y="117000"/>
            <a:ext cx="972000" cy="198000"/>
          </a:xfrm>
          <a:prstGeom prst="roundRect">
            <a:avLst>
              <a:gd name="adj" fmla="val 12000"/>
            </a:avLst>
          </a:prstGeom>
          <a:solidFill>
            <a:srgbClr val="EFF2F4"/>
          </a:solidFill>
          <a:ln w="7620">
            <a:solidFill>
              <a:srgbClr val="3A4653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ctr"/>
            <a:r>
              <a:rPr lang="en-US" sz="750" dirty="0">
                <a:solidFill>
                  <a:srgbClr val="101720"/>
                </a:solidFill>
                <a:latin typeface="Times New Roman"/>
                <a:cs typeface="Times New Roman"/>
              </a:rPr>
              <a:t>DNN layer shapes</a:t>
            </a:r>
          </a:p>
        </p:txBody>
      </p:sp>
      <p:sp>
        <p:nvSpPr>
          <p:cNvPr id="3" name="box"/>
          <p:cNvSpPr/>
          <p:nvPr/>
        </p:nvSpPr>
        <p:spPr>
          <a:xfrm rot="0">
            <a:off x="1566000" y="86400"/>
            <a:ext cx="1296000" cy="259200"/>
          </a:xfrm>
          <a:prstGeom prst="roundRect">
            <a:avLst>
              <a:gd name="adj" fmla="val 12000"/>
            </a:avLst>
          </a:prstGeom>
          <a:solidFill>
            <a:srgbClr val="EFF2F4"/>
          </a:solidFill>
          <a:ln w="7620">
            <a:solidFill>
              <a:srgbClr val="3A4653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ctr"/>
            <a:r>
              <a:rPr lang="en-US" sz="750" dirty="0">
                <a:solidFill>
                  <a:srgbClr val="101720"/>
                </a:solidFill>
                <a:latin typeface="Times New Roman"/>
                <a:cs typeface="Times New Roman"/>
              </a:rPr>
              <a:t>hardware: 128×128 CBs,</a:t>
            </a:r>
          </a:p>
          <a:p>
            <a:pPr algn="ctr"/>
            <a:r>
              <a:rPr lang="en-US" sz="750" dirty="0">
                <a:solidFill>
                  <a:srgbClr val="101720"/>
                </a:solidFill>
                <a:latin typeface="Times New Roman"/>
                <a:cs typeface="Times New Roman"/>
              </a:rPr>
              <a:t>c CBs per tile</a:t>
            </a:r>
          </a:p>
        </p:txBody>
      </p:sp>
      <p:sp>
        <p:nvSpPr>
          <p:cNvPr id="4" name="box"/>
          <p:cNvSpPr/>
          <p:nvPr/>
        </p:nvSpPr>
        <p:spPr>
          <a:xfrm rot="0">
            <a:off x="612000" y="399600"/>
            <a:ext cx="1800000" cy="619200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11430">
            <a:solidFill>
              <a:srgbClr val="2A78D6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b="1" dirty="0">
                <a:solidFill>
                  <a:srgbClr val="2A78D6"/>
                </a:solidFill>
                <a:latin typeface="Times New Roman"/>
                <a:cs typeface="Times New Roman"/>
              </a:rPr>
              <a:t>1  Architecture &amp; packing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PD: density c (hardware-fixed)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PO: orientation (r,s), r·s = c</a:t>
            </a:r>
          </a:p>
          <a:p>
            <a:pPr algn="l"/>
            <a:r>
              <a:rPr lang="en-US" sz="700" b="1" dirty="0">
                <a:solidFill>
                  <a:srgbClr val="101720"/>
                </a:solidFill>
                <a:latin typeface="Times New Roman"/>
                <a:cs typeface="Times New Roman"/>
              </a:rPr>
              <a:t>choose</a:t>
            </a:r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 (r,s):  min PF</a:t>
            </a:r>
          </a:p>
          <a:p>
            <a:pPr algn="l"/>
            <a:r>
              <a:rPr lang="en-US" sz="700" dirty="0">
                <a:solidFill>
                  <a:srgbClr val="3A4653"/>
                </a:solidFill>
                <a:latin typeface="Times New Roman"/>
                <a:cs typeface="Times New Roman"/>
              </a:rPr>
              <a:t>out: traffic graph (rates, windows),  PF</a:t>
            </a:r>
          </a:p>
        </p:txBody>
      </p:sp>
      <p:sp>
        <p:nvSpPr>
          <p:cNvPr id="5" name="box"/>
          <p:cNvSpPr/>
          <p:nvPr/>
        </p:nvSpPr>
        <p:spPr>
          <a:xfrm rot="0">
            <a:off x="612000" y="1096200"/>
            <a:ext cx="1800000" cy="450000"/>
          </a:xfrm>
          <a:prstGeom prst="roundRect">
            <a:avLst>
              <a:gd name="adj" fmla="val 12000"/>
            </a:avLst>
          </a:prstGeom>
          <a:solidFill>
            <a:srgbClr val="FEF6F3"/>
          </a:solidFill>
          <a:ln w="11430">
            <a:solidFill>
              <a:srgbClr val="EB6834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b="1" dirty="0">
                <a:solidFill>
                  <a:srgbClr val="EB6834"/>
                </a:solidFill>
                <a:latin typeface="Times New Roman"/>
                <a:cs typeface="Times New Roman"/>
              </a:rPr>
              <a:t>2  Mapping (tile → node)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place at min CC;  refine: max ES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    s.t. CC ≤ CC_min,  PL ≤ PL(CC_min)</a:t>
            </a:r>
          </a:p>
          <a:p>
            <a:pPr algn="l"/>
            <a:r>
              <a:rPr lang="en-US" sz="700" dirty="0">
                <a:solidFill>
                  <a:srgbClr val="3A4653"/>
                </a:solidFill>
                <a:latin typeface="Times New Roman"/>
                <a:cs typeface="Times New Roman"/>
              </a:rPr>
              <a:t>out: placement π,  PL,  CC</a:t>
            </a:r>
          </a:p>
        </p:txBody>
      </p:sp>
      <p:sp>
        <p:nvSpPr>
          <p:cNvPr id="6" name="box"/>
          <p:cNvSpPr/>
          <p:nvPr/>
        </p:nvSpPr>
        <p:spPr>
          <a:xfrm rot="0">
            <a:off x="612000" y="1675800"/>
            <a:ext cx="1800000" cy="486000"/>
          </a:xfrm>
          <a:prstGeom prst="roundRect">
            <a:avLst>
              <a:gd name="adj" fmla="val 12000"/>
            </a:avLst>
          </a:prstGeom>
          <a:solidFill>
            <a:srgbClr val="F1FAF7"/>
          </a:solidFill>
          <a:ln w="11430">
            <a:solidFill>
              <a:srgbClr val="1BAF7A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b="1" dirty="0">
                <a:solidFill>
                  <a:srgbClr val="1BAF7A"/>
                </a:solidFill>
                <a:latin typeface="Times New Roman"/>
                <a:cs typeface="Times New Roman"/>
              </a:rPr>
              <a:t>3  Routing &amp; selection</a:t>
            </a:r>
            <a:r>
              <a:rPr lang="en-US" sz="700" dirty="0">
                <a:solidFill>
                  <a:srgbClr val="3A4653"/>
                </a:solidFill>
                <a:latin typeface="Times New Roman"/>
                <a:cs typeface="Times New Roman"/>
              </a:rPr>
              <a:t>  (run time)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odd–even-balanced routing: admissible paths R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selection: BL (1-hop buffer occupancy)</a:t>
            </a:r>
          </a:p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                 DP (multi-hop cost-to-go)</a:t>
            </a:r>
          </a:p>
        </p:txBody>
      </p:sp>
      <p:sp>
        <p:nvSpPr>
          <p:cNvPr id="7" name="box"/>
          <p:cNvSpPr/>
          <p:nvPr/>
        </p:nvSpPr>
        <p:spPr>
          <a:xfrm rot="0">
            <a:off x="684000" y="2250000"/>
            <a:ext cx="1656000" cy="1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3A4653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ctr"/>
            <a:r>
              <a:rPr lang="en-US" sz="750" dirty="0">
                <a:solidFill>
                  <a:srgbClr val="101720"/>
                </a:solidFill>
                <a:latin typeface="Times New Roman"/>
                <a:cs typeface="Times New Roman"/>
              </a:rPr>
              <a:t>delay, p99  ~  BIND = max(PF, PL)</a:t>
            </a:r>
          </a:p>
        </p:txBody>
      </p:sp>
      <p:cxnSp>
        <p:nvCxnSpPr>
          <p:cNvPr id="8" name="line"/>
          <p:cNvCxnSpPr/>
          <p:nvPr/>
        </p:nvCxnSpPr>
        <p:spPr>
          <a:xfrm>
            <a:off x="810000" y="316800"/>
            <a:ext cx="0" cy="54000"/>
          </a:xfrm>
          <a:prstGeom prst="straightConnector1">
            <a:avLst/>
          </a:prstGeom>
          <a:ln w="12700" cap="rnd">
            <a:solidFill>
              <a:srgbClr val="3A4653"/>
            </a:solidFill>
          </a:ln>
        </p:spPr>
      </p:cxnSp>
      <p:cxnSp>
        <p:nvCxnSpPr>
          <p:cNvPr id="9" name="line"/>
          <p:cNvCxnSpPr/>
          <p:nvPr/>
        </p:nvCxnSpPr>
        <p:spPr>
          <a:xfrm>
            <a:off x="810000" y="370800"/>
            <a:ext cx="414000" cy="0"/>
          </a:xfrm>
          <a:prstGeom prst="straightConnector1">
            <a:avLst/>
          </a:prstGeom>
          <a:ln w="12700" cap="rnd">
            <a:solidFill>
              <a:srgbClr val="3A4653"/>
            </a:solidFill>
          </a:ln>
        </p:spPr>
      </p:cxnSp>
      <p:cxnSp>
        <p:nvCxnSpPr>
          <p:cNvPr id="10" name="line"/>
          <p:cNvCxnSpPr/>
          <p:nvPr/>
        </p:nvCxnSpPr>
        <p:spPr>
          <a:xfrm>
            <a:off x="1224000" y="370800"/>
            <a:ext cx="0" cy="25200"/>
          </a:xfrm>
          <a:prstGeom prst="straightConnector1">
            <a:avLst/>
          </a:prstGeom>
          <a:ln w="1270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1" name="line"/>
          <p:cNvCxnSpPr/>
          <p:nvPr/>
        </p:nvCxnSpPr>
        <p:spPr>
          <a:xfrm>
            <a:off x="2214000" y="345600"/>
            <a:ext cx="0" cy="25200"/>
          </a:xfrm>
          <a:prstGeom prst="straightConnector1">
            <a:avLst/>
          </a:prstGeom>
          <a:ln w="12700" cap="rnd">
            <a:solidFill>
              <a:srgbClr val="3A4653"/>
            </a:solidFill>
          </a:ln>
        </p:spPr>
      </p:cxnSp>
      <p:cxnSp>
        <p:nvCxnSpPr>
          <p:cNvPr id="12" name="line"/>
          <p:cNvCxnSpPr/>
          <p:nvPr/>
        </p:nvCxnSpPr>
        <p:spPr>
          <a:xfrm flipH="1">
            <a:off x="1800000" y="370800"/>
            <a:ext cx="414000" cy="0"/>
          </a:xfrm>
          <a:prstGeom prst="straightConnector1">
            <a:avLst/>
          </a:prstGeom>
          <a:ln w="12700" cap="rnd">
            <a:solidFill>
              <a:srgbClr val="3A4653"/>
            </a:solidFill>
          </a:ln>
        </p:spPr>
      </p:cxnSp>
      <p:cxnSp>
        <p:nvCxnSpPr>
          <p:cNvPr id="13" name="line"/>
          <p:cNvCxnSpPr/>
          <p:nvPr/>
        </p:nvCxnSpPr>
        <p:spPr>
          <a:xfrm>
            <a:off x="1800000" y="370800"/>
            <a:ext cx="0" cy="25200"/>
          </a:xfrm>
          <a:prstGeom prst="straightConnector1">
            <a:avLst/>
          </a:prstGeom>
          <a:ln w="1270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4" name="line"/>
          <p:cNvCxnSpPr/>
          <p:nvPr/>
        </p:nvCxnSpPr>
        <p:spPr>
          <a:xfrm>
            <a:off x="1512000" y="1022400"/>
            <a:ext cx="0" cy="72000"/>
          </a:xfrm>
          <a:prstGeom prst="straightConnector1">
            <a:avLst/>
          </a:prstGeom>
          <a:ln w="12700" cap="rnd">
            <a:solidFill>
              <a:srgbClr val="3A4653"/>
            </a:solidFill>
            <a:tailEnd type="triangle" w="med" len="med"/>
          </a:ln>
        </p:spPr>
      </p:cxnSp>
      <p:sp>
        <p:nvSpPr>
          <p:cNvPr id="15" name="text"/>
          <p:cNvSpPr/>
          <p:nvPr/>
        </p:nvSpPr>
        <p:spPr>
          <a:xfrm rot="0">
            <a:off x="1530000" y="1013400"/>
            <a:ext cx="540000" cy="9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traffic graph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1512000" y="1548000"/>
            <a:ext cx="0" cy="126000"/>
          </a:xfrm>
          <a:prstGeom prst="straightConnector1">
            <a:avLst/>
          </a:prstGeom>
          <a:ln w="12700" cap="rnd">
            <a:solidFill>
              <a:srgbClr val="3A4653"/>
            </a:solidFill>
            <a:tailEnd type="triangle" w="med" len="med"/>
          </a:ln>
        </p:spPr>
      </p:cxnSp>
      <p:sp>
        <p:nvSpPr>
          <p:cNvPr id="17" name="text"/>
          <p:cNvSpPr/>
          <p:nvPr/>
        </p:nvSpPr>
        <p:spPr>
          <a:xfrm rot="0">
            <a:off x="1530000" y="1567800"/>
            <a:ext cx="540000" cy="9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placement π</a:t>
            </a:r>
          </a:p>
        </p:txBody>
      </p:sp>
      <p:cxnSp>
        <p:nvCxnSpPr>
          <p:cNvPr id="18" name="line"/>
          <p:cNvCxnSpPr/>
          <p:nvPr/>
        </p:nvCxnSpPr>
        <p:spPr>
          <a:xfrm>
            <a:off x="1512000" y="2163600"/>
            <a:ext cx="0" cy="86400"/>
          </a:xfrm>
          <a:prstGeom prst="straightConnector1">
            <a:avLst/>
          </a:prstGeom>
          <a:ln w="1270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9" name="line"/>
          <p:cNvCxnSpPr/>
          <p:nvPr/>
        </p:nvCxnSpPr>
        <p:spPr>
          <a:xfrm flipH="1">
            <a:off x="496800" y="522000"/>
            <a:ext cx="43200" cy="0"/>
          </a:xfrm>
          <a:prstGeom prst="straightConnector1">
            <a:avLst/>
          </a:prstGeom>
          <a:ln w="7620" cap="rnd">
            <a:solidFill>
              <a:srgbClr val="9AA5B1"/>
            </a:solidFill>
          </a:ln>
        </p:spPr>
      </p:cxnSp>
      <p:cxnSp>
        <p:nvCxnSpPr>
          <p:cNvPr id="20" name="line"/>
          <p:cNvCxnSpPr/>
          <p:nvPr/>
        </p:nvCxnSpPr>
        <p:spPr>
          <a:xfrm>
            <a:off x="496800" y="522000"/>
            <a:ext cx="0" cy="972000"/>
          </a:xfrm>
          <a:prstGeom prst="straightConnector1">
            <a:avLst/>
          </a:prstGeom>
          <a:ln w="7620" cap="rnd">
            <a:solidFill>
              <a:srgbClr val="9AA5B1"/>
            </a:solidFill>
          </a:ln>
        </p:spPr>
      </p:cxnSp>
      <p:cxnSp>
        <p:nvCxnSpPr>
          <p:cNvPr id="21" name="line"/>
          <p:cNvCxnSpPr/>
          <p:nvPr/>
        </p:nvCxnSpPr>
        <p:spPr>
          <a:xfrm>
            <a:off x="496800" y="1494000"/>
            <a:ext cx="43200" cy="0"/>
          </a:xfrm>
          <a:prstGeom prst="straightConnector1">
            <a:avLst/>
          </a:prstGeom>
          <a:ln w="7620" cap="rnd">
            <a:solidFill>
              <a:srgbClr val="9AA5B1"/>
            </a:solidFill>
          </a:ln>
        </p:spPr>
      </p:cxnSp>
      <p:sp>
        <p:nvSpPr>
          <p:cNvPr id="22" name="text"/>
          <p:cNvSpPr/>
          <p:nvPr/>
        </p:nvSpPr>
        <p:spPr>
          <a:xfrm rot="-5400000">
            <a:off x="-198000" y="918000"/>
            <a:ext cx="108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ctr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nested search:</a:t>
            </a:r>
          </a:p>
          <a:p>
            <a:pPr algn="ctr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each PO ⇒ own placement space</a:t>
            </a:r>
          </a:p>
        </p:txBody>
      </p:sp>
      <p:sp>
        <p:nvSpPr>
          <p:cNvPr id="23" name="plane"/>
          <p:cNvSpPr/>
          <p:nvPr/>
        </p:nvSpPr>
        <p:spPr>
          <a:xfrm>
            <a:off x="3196800" y="1749600"/>
            <a:ext cx="1368000" cy="410400"/>
          </a:xfrm>
          <a:custGeom>
            <a:avLst/>
            <a:gdLst/>
            <a:ahLst/>
            <a:cxnLst/>
            <a:rect l="0" t="0" r="r" b="b"/>
            <a:pathLst>
              <a:path w="1368000" h="410400">
                <a:moveTo>
                  <a:pt x="0" y="410400"/>
                </a:moveTo>
                <a:lnTo>
                  <a:pt x="1022400" y="410400"/>
                </a:lnTo>
                <a:lnTo>
                  <a:pt x="1368000" y="0"/>
                </a:lnTo>
                <a:lnTo>
                  <a:pt x="345600" y="0"/>
                </a:lnTo>
                <a:close/>
              </a:path>
            </a:pathLst>
          </a:custGeom>
          <a:solidFill>
            <a:srgbClr val="F3F5F7"/>
          </a:solidFill>
          <a:ln w="6350">
            <a:solidFill>
              <a:srgbClr val="C9D2DB"/>
            </a:solidFill>
          </a:ln>
        </p:spPr>
        <p:txBody>
          <a:bodyPr/>
          <a:lstStyle/>
          <a:p/>
        </p:txBody>
      </p:sp>
      <p:sp>
        <p:nvSpPr>
          <p:cNvPr id="24" name="plane"/>
          <p:cNvSpPr/>
          <p:nvPr/>
        </p:nvSpPr>
        <p:spPr>
          <a:xfrm>
            <a:off x="3196800" y="1245600"/>
            <a:ext cx="1368000" cy="410400"/>
          </a:xfrm>
          <a:custGeom>
            <a:avLst/>
            <a:gdLst/>
            <a:ahLst/>
            <a:cxnLst/>
            <a:rect l="0" t="0" r="r" b="b"/>
            <a:pathLst>
              <a:path w="1368000" h="410400">
                <a:moveTo>
                  <a:pt x="0" y="410400"/>
                </a:moveTo>
                <a:lnTo>
                  <a:pt x="1022400" y="410400"/>
                </a:lnTo>
                <a:lnTo>
                  <a:pt x="1368000" y="0"/>
                </a:lnTo>
                <a:lnTo>
                  <a:pt x="345600" y="0"/>
                </a:lnTo>
                <a:close/>
              </a:path>
            </a:pathLst>
          </a:custGeom>
          <a:solidFill>
            <a:srgbClr val="F3F5F7"/>
          </a:solidFill>
          <a:ln w="6350">
            <a:solidFill>
              <a:srgbClr val="C9D2DB"/>
            </a:solidFill>
          </a:ln>
        </p:spPr>
        <p:txBody>
          <a:bodyPr/>
          <a:lstStyle/>
          <a:p/>
        </p:txBody>
      </p:sp>
      <p:cxnSp>
        <p:nvCxnSpPr>
          <p:cNvPr id="25" name="line"/>
          <p:cNvCxnSpPr/>
          <p:nvPr/>
        </p:nvCxnSpPr>
        <p:spPr>
          <a:xfrm flipV="1">
            <a:off x="3276000" y="15840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26" name="line"/>
          <p:cNvCxnSpPr/>
          <p:nvPr/>
        </p:nvCxnSpPr>
        <p:spPr>
          <a:xfrm flipV="1">
            <a:off x="3391200" y="14472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27" name="line"/>
          <p:cNvCxnSpPr/>
          <p:nvPr/>
        </p:nvCxnSpPr>
        <p:spPr>
          <a:xfrm flipV="1">
            <a:off x="3506400" y="13104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28" name="line"/>
          <p:cNvCxnSpPr/>
          <p:nvPr/>
        </p:nvCxnSpPr>
        <p:spPr>
          <a:xfrm flipV="1">
            <a:off x="3564000" y="15840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29" name="line"/>
          <p:cNvCxnSpPr/>
          <p:nvPr/>
        </p:nvCxnSpPr>
        <p:spPr>
          <a:xfrm flipV="1">
            <a:off x="3679200" y="14472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0" name="line"/>
          <p:cNvCxnSpPr/>
          <p:nvPr/>
        </p:nvCxnSpPr>
        <p:spPr>
          <a:xfrm flipV="1">
            <a:off x="3794400" y="13104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1" name="line"/>
          <p:cNvCxnSpPr/>
          <p:nvPr/>
        </p:nvCxnSpPr>
        <p:spPr>
          <a:xfrm flipV="1">
            <a:off x="3852000" y="15840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2" name="line"/>
          <p:cNvCxnSpPr/>
          <p:nvPr/>
        </p:nvCxnSpPr>
        <p:spPr>
          <a:xfrm flipV="1">
            <a:off x="3967200" y="14472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3" name="line"/>
          <p:cNvCxnSpPr/>
          <p:nvPr/>
        </p:nvCxnSpPr>
        <p:spPr>
          <a:xfrm flipV="1">
            <a:off x="4082400" y="13104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4" name="line"/>
          <p:cNvCxnSpPr/>
          <p:nvPr/>
        </p:nvCxnSpPr>
        <p:spPr>
          <a:xfrm flipV="1">
            <a:off x="4140000" y="15840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5" name="line"/>
          <p:cNvCxnSpPr/>
          <p:nvPr/>
        </p:nvCxnSpPr>
        <p:spPr>
          <a:xfrm flipV="1">
            <a:off x="4255200" y="14472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6" name="line"/>
          <p:cNvCxnSpPr/>
          <p:nvPr/>
        </p:nvCxnSpPr>
        <p:spPr>
          <a:xfrm flipV="1">
            <a:off x="4370400" y="1310400"/>
            <a:ext cx="0" cy="504000"/>
          </a:xfrm>
          <a:prstGeom prst="straightConnector1">
            <a:avLst/>
          </a:prstGeom>
          <a:ln w="5080" cap="rnd">
            <a:solidFill>
              <a:srgbClr val="9AA5B1"/>
            </a:solidFill>
            <a:prstDash val="sysDot"/>
          </a:ln>
        </p:spPr>
      </p:cxnSp>
      <p:cxnSp>
        <p:nvCxnSpPr>
          <p:cNvPr id="37" name="line"/>
          <p:cNvCxnSpPr/>
          <p:nvPr/>
        </p:nvCxnSpPr>
        <p:spPr>
          <a:xfrm flipV="1">
            <a:off x="3276000" y="1951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38" name="line"/>
          <p:cNvCxnSpPr/>
          <p:nvPr/>
        </p:nvCxnSpPr>
        <p:spPr>
          <a:xfrm flipV="1">
            <a:off x="3391200" y="1814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39" name="line"/>
          <p:cNvCxnSpPr/>
          <p:nvPr/>
        </p:nvCxnSpPr>
        <p:spPr>
          <a:xfrm flipV="1">
            <a:off x="3564000" y="1951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0" name="line"/>
          <p:cNvCxnSpPr/>
          <p:nvPr/>
        </p:nvCxnSpPr>
        <p:spPr>
          <a:xfrm flipV="1">
            <a:off x="3679200" y="1814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1" name="line"/>
          <p:cNvCxnSpPr/>
          <p:nvPr/>
        </p:nvCxnSpPr>
        <p:spPr>
          <a:xfrm flipV="1">
            <a:off x="3852000" y="1951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2" name="line"/>
          <p:cNvCxnSpPr/>
          <p:nvPr/>
        </p:nvCxnSpPr>
        <p:spPr>
          <a:xfrm flipV="1">
            <a:off x="3967200" y="1814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3" name="line"/>
          <p:cNvCxnSpPr/>
          <p:nvPr/>
        </p:nvCxnSpPr>
        <p:spPr>
          <a:xfrm flipV="1">
            <a:off x="4140000" y="1951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4" name="line"/>
          <p:cNvCxnSpPr/>
          <p:nvPr/>
        </p:nvCxnSpPr>
        <p:spPr>
          <a:xfrm flipV="1">
            <a:off x="4255200" y="1814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5" name="line"/>
          <p:cNvCxnSpPr/>
          <p:nvPr/>
        </p:nvCxnSpPr>
        <p:spPr>
          <a:xfrm>
            <a:off x="3276000" y="20880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6" name="line"/>
          <p:cNvCxnSpPr/>
          <p:nvPr/>
        </p:nvCxnSpPr>
        <p:spPr>
          <a:xfrm>
            <a:off x="3391200" y="19512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7" name="line"/>
          <p:cNvCxnSpPr/>
          <p:nvPr/>
        </p:nvCxnSpPr>
        <p:spPr>
          <a:xfrm>
            <a:off x="3506400" y="18144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8" name="line"/>
          <p:cNvCxnSpPr/>
          <p:nvPr/>
        </p:nvCxnSpPr>
        <p:spPr>
          <a:xfrm>
            <a:off x="3564000" y="20880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49" name="line"/>
          <p:cNvCxnSpPr/>
          <p:nvPr/>
        </p:nvCxnSpPr>
        <p:spPr>
          <a:xfrm>
            <a:off x="3679200" y="19512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0" name="line"/>
          <p:cNvCxnSpPr/>
          <p:nvPr/>
        </p:nvCxnSpPr>
        <p:spPr>
          <a:xfrm>
            <a:off x="3794400" y="18144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1" name="line"/>
          <p:cNvCxnSpPr/>
          <p:nvPr/>
        </p:nvCxnSpPr>
        <p:spPr>
          <a:xfrm>
            <a:off x="3852000" y="20880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2" name="line"/>
          <p:cNvCxnSpPr/>
          <p:nvPr/>
        </p:nvCxnSpPr>
        <p:spPr>
          <a:xfrm>
            <a:off x="3967200" y="19512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3" name="line"/>
          <p:cNvCxnSpPr/>
          <p:nvPr/>
        </p:nvCxnSpPr>
        <p:spPr>
          <a:xfrm>
            <a:off x="4082400" y="18144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4" name="line"/>
          <p:cNvCxnSpPr/>
          <p:nvPr/>
        </p:nvCxnSpPr>
        <p:spPr>
          <a:xfrm flipV="1">
            <a:off x="3276000" y="1447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5" name="line"/>
          <p:cNvCxnSpPr/>
          <p:nvPr/>
        </p:nvCxnSpPr>
        <p:spPr>
          <a:xfrm flipV="1">
            <a:off x="3391200" y="1310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6" name="line"/>
          <p:cNvCxnSpPr/>
          <p:nvPr/>
        </p:nvCxnSpPr>
        <p:spPr>
          <a:xfrm flipV="1">
            <a:off x="3564000" y="1447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7" name="line"/>
          <p:cNvCxnSpPr/>
          <p:nvPr/>
        </p:nvCxnSpPr>
        <p:spPr>
          <a:xfrm flipV="1">
            <a:off x="3679200" y="1310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8" name="line"/>
          <p:cNvCxnSpPr/>
          <p:nvPr/>
        </p:nvCxnSpPr>
        <p:spPr>
          <a:xfrm flipV="1">
            <a:off x="3852000" y="1447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59" name="line"/>
          <p:cNvCxnSpPr/>
          <p:nvPr/>
        </p:nvCxnSpPr>
        <p:spPr>
          <a:xfrm flipV="1">
            <a:off x="3967200" y="1310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0" name="line"/>
          <p:cNvCxnSpPr/>
          <p:nvPr/>
        </p:nvCxnSpPr>
        <p:spPr>
          <a:xfrm flipV="1">
            <a:off x="4140000" y="14472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1" name="line"/>
          <p:cNvCxnSpPr/>
          <p:nvPr/>
        </p:nvCxnSpPr>
        <p:spPr>
          <a:xfrm flipV="1">
            <a:off x="4255200" y="1310400"/>
            <a:ext cx="115200" cy="13680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2" name="line"/>
          <p:cNvCxnSpPr/>
          <p:nvPr/>
        </p:nvCxnSpPr>
        <p:spPr>
          <a:xfrm>
            <a:off x="3276000" y="15840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3" name="line"/>
          <p:cNvCxnSpPr/>
          <p:nvPr/>
        </p:nvCxnSpPr>
        <p:spPr>
          <a:xfrm>
            <a:off x="3391200" y="14472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4" name="line"/>
          <p:cNvCxnSpPr/>
          <p:nvPr/>
        </p:nvCxnSpPr>
        <p:spPr>
          <a:xfrm>
            <a:off x="3506400" y="13104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5" name="line"/>
          <p:cNvCxnSpPr/>
          <p:nvPr/>
        </p:nvCxnSpPr>
        <p:spPr>
          <a:xfrm>
            <a:off x="3564000" y="15840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6" name="line"/>
          <p:cNvCxnSpPr/>
          <p:nvPr/>
        </p:nvCxnSpPr>
        <p:spPr>
          <a:xfrm>
            <a:off x="3679200" y="14472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7" name="line"/>
          <p:cNvCxnSpPr/>
          <p:nvPr/>
        </p:nvCxnSpPr>
        <p:spPr>
          <a:xfrm>
            <a:off x="3794400" y="13104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8" name="line"/>
          <p:cNvCxnSpPr/>
          <p:nvPr/>
        </p:nvCxnSpPr>
        <p:spPr>
          <a:xfrm>
            <a:off x="3852000" y="15840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69" name="line"/>
          <p:cNvCxnSpPr/>
          <p:nvPr/>
        </p:nvCxnSpPr>
        <p:spPr>
          <a:xfrm>
            <a:off x="3967200" y="14472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70" name="line"/>
          <p:cNvCxnSpPr/>
          <p:nvPr/>
        </p:nvCxnSpPr>
        <p:spPr>
          <a:xfrm>
            <a:off x="4082400" y="1310400"/>
            <a:ext cx="288000" cy="0"/>
          </a:xfrm>
          <a:prstGeom prst="straightConnector1">
            <a:avLst/>
          </a:prstGeom>
          <a:ln w="5715" cap="rnd">
            <a:solidFill>
              <a:srgbClr val="909AA5"/>
            </a:solidFill>
          </a:ln>
        </p:spPr>
      </p:cxnSp>
      <p:cxnSp>
        <p:nvCxnSpPr>
          <p:cNvPr id="71" name="line"/>
          <p:cNvCxnSpPr/>
          <p:nvPr/>
        </p:nvCxnSpPr>
        <p:spPr>
          <a:xfrm>
            <a:off x="3276000" y="2088000"/>
            <a:ext cx="288000" cy="0"/>
          </a:xfrm>
          <a:prstGeom prst="straightConnector1">
            <a:avLst/>
          </a:prstGeom>
          <a:ln w="11430" cap="rnd">
            <a:solidFill>
              <a:srgbClr val="EB6834"/>
            </a:solidFill>
          </a:ln>
        </p:spPr>
      </p:cxnSp>
      <p:cxnSp>
        <p:nvCxnSpPr>
          <p:cNvPr id="72" name="line"/>
          <p:cNvCxnSpPr/>
          <p:nvPr/>
        </p:nvCxnSpPr>
        <p:spPr>
          <a:xfrm flipV="1">
            <a:off x="3564000" y="1951200"/>
            <a:ext cx="115200" cy="136800"/>
          </a:xfrm>
          <a:prstGeom prst="straightConnector1">
            <a:avLst/>
          </a:prstGeom>
          <a:ln w="11430" cap="rnd">
            <a:solidFill>
              <a:srgbClr val="EB6834"/>
            </a:solidFill>
            <a:tailEnd type="triangle" w="med" len="med"/>
          </a:ln>
        </p:spPr>
      </p:cxnSp>
      <p:cxnSp>
        <p:nvCxnSpPr>
          <p:cNvPr id="73" name="line"/>
          <p:cNvCxnSpPr/>
          <p:nvPr/>
        </p:nvCxnSpPr>
        <p:spPr>
          <a:xfrm>
            <a:off x="3506400" y="1814400"/>
            <a:ext cx="288000" cy="0"/>
          </a:xfrm>
          <a:prstGeom prst="straightConnector1">
            <a:avLst/>
          </a:prstGeom>
          <a:ln w="11430" cap="rnd">
            <a:solidFill>
              <a:srgbClr val="EB6834"/>
            </a:solidFill>
          </a:ln>
        </p:spPr>
      </p:cxnSp>
      <p:cxnSp>
        <p:nvCxnSpPr>
          <p:cNvPr id="74" name="line"/>
          <p:cNvCxnSpPr/>
          <p:nvPr/>
        </p:nvCxnSpPr>
        <p:spPr>
          <a:xfrm flipH="1">
            <a:off x="3679200" y="1814400"/>
            <a:ext cx="115200" cy="136800"/>
          </a:xfrm>
          <a:prstGeom prst="straightConnector1">
            <a:avLst/>
          </a:prstGeom>
          <a:ln w="11430" cap="rnd">
            <a:solidFill>
              <a:srgbClr val="EB6834"/>
            </a:solidFill>
            <a:tailEnd type="triangle" w="med" len="med"/>
          </a:ln>
        </p:spPr>
      </p:cxnSp>
      <p:cxnSp>
        <p:nvCxnSpPr>
          <p:cNvPr id="75" name="line"/>
          <p:cNvCxnSpPr/>
          <p:nvPr/>
        </p:nvCxnSpPr>
        <p:spPr>
          <a:xfrm>
            <a:off x="3679200" y="1951200"/>
            <a:ext cx="288000" cy="0"/>
          </a:xfrm>
          <a:prstGeom prst="straightConnector1">
            <a:avLst/>
          </a:prstGeom>
          <a:ln w="25400" cap="rnd">
            <a:solidFill>
              <a:srgbClr val="EB6834"/>
            </a:solidFill>
            <a:tailEnd type="triangle" w="med" len="med"/>
          </a:ln>
        </p:spPr>
      </p:cxnSp>
      <p:cxnSp>
        <p:nvCxnSpPr>
          <p:cNvPr id="76" name="line"/>
          <p:cNvCxnSpPr/>
          <p:nvPr/>
        </p:nvCxnSpPr>
        <p:spPr>
          <a:xfrm flipV="1">
            <a:off x="4140000" y="1951200"/>
            <a:ext cx="115200" cy="136800"/>
          </a:xfrm>
          <a:prstGeom prst="straightConnector1">
            <a:avLst/>
          </a:prstGeom>
          <a:ln w="11430" cap="rnd">
            <a:solidFill>
              <a:srgbClr val="EB6834"/>
            </a:solidFill>
          </a:ln>
        </p:spPr>
      </p:cxnSp>
      <p:cxnSp>
        <p:nvCxnSpPr>
          <p:cNvPr id="77" name="line"/>
          <p:cNvCxnSpPr/>
          <p:nvPr/>
        </p:nvCxnSpPr>
        <p:spPr>
          <a:xfrm flipH="1">
            <a:off x="3967200" y="1951200"/>
            <a:ext cx="288000" cy="0"/>
          </a:xfrm>
          <a:prstGeom prst="straightConnector1">
            <a:avLst/>
          </a:prstGeom>
          <a:ln w="11430" cap="rnd">
            <a:solidFill>
              <a:srgbClr val="EB6834"/>
            </a:solidFill>
            <a:tailEnd type="triangle" w="med" len="med"/>
          </a:ln>
        </p:spPr>
      </p:cxnSp>
      <p:cxnSp>
        <p:nvCxnSpPr>
          <p:cNvPr id="78" name="line"/>
          <p:cNvCxnSpPr/>
          <p:nvPr/>
        </p:nvCxnSpPr>
        <p:spPr>
          <a:xfrm>
            <a:off x="3506400" y="1310400"/>
            <a:ext cx="576000" cy="0"/>
          </a:xfrm>
          <a:prstGeom prst="straightConnector1">
            <a:avLst/>
          </a:prstGeom>
          <a:ln w="11430" cap="rnd">
            <a:solidFill>
              <a:srgbClr val="1BAF7A"/>
            </a:solidFill>
          </a:ln>
        </p:spPr>
      </p:cxnSp>
      <p:cxnSp>
        <p:nvCxnSpPr>
          <p:cNvPr id="79" name="line"/>
          <p:cNvCxnSpPr/>
          <p:nvPr/>
        </p:nvCxnSpPr>
        <p:spPr>
          <a:xfrm>
            <a:off x="4082400" y="1310400"/>
            <a:ext cx="0" cy="504000"/>
          </a:xfrm>
          <a:prstGeom prst="straightConnector1">
            <a:avLst/>
          </a:prstGeom>
          <a:ln w="11430" cap="rnd">
            <a:solidFill>
              <a:srgbClr val="1BAF7A"/>
            </a:solidFill>
          </a:ln>
        </p:spPr>
      </p:cxnSp>
      <p:cxnSp>
        <p:nvCxnSpPr>
          <p:cNvPr id="80" name="line"/>
          <p:cNvCxnSpPr/>
          <p:nvPr/>
        </p:nvCxnSpPr>
        <p:spPr>
          <a:xfrm flipH="1">
            <a:off x="3967200" y="1814400"/>
            <a:ext cx="115200" cy="136800"/>
          </a:xfrm>
          <a:prstGeom prst="straightConnector1">
            <a:avLst/>
          </a:prstGeom>
          <a:ln w="11430" cap="rnd">
            <a:solidFill>
              <a:srgbClr val="1BAF7A"/>
            </a:solidFill>
            <a:tailEnd type="triangle" w="med" len="med"/>
          </a:ln>
        </p:spPr>
      </p:cxnSp>
      <p:cxnSp>
        <p:nvCxnSpPr>
          <p:cNvPr id="81" name="line"/>
          <p:cNvCxnSpPr/>
          <p:nvPr/>
        </p:nvCxnSpPr>
        <p:spPr>
          <a:xfrm>
            <a:off x="3506400" y="1310400"/>
            <a:ext cx="0" cy="504000"/>
          </a:xfrm>
          <a:prstGeom prst="straightConnector1">
            <a:avLst/>
          </a:prstGeom>
          <a:ln w="11430" cap="rnd">
            <a:solidFill>
              <a:srgbClr val="1BAF7A"/>
            </a:solidFill>
            <a:prstDash val="dash"/>
          </a:ln>
        </p:spPr>
      </p:cxnSp>
      <p:cxnSp>
        <p:nvCxnSpPr>
          <p:cNvPr id="82" name="line"/>
          <p:cNvCxnSpPr/>
          <p:nvPr/>
        </p:nvCxnSpPr>
        <p:spPr>
          <a:xfrm flipH="1">
            <a:off x="3391200" y="1814400"/>
            <a:ext cx="115200" cy="136800"/>
          </a:xfrm>
          <a:prstGeom prst="straightConnector1">
            <a:avLst/>
          </a:prstGeom>
          <a:ln w="11430" cap="rnd">
            <a:solidFill>
              <a:srgbClr val="1BAF7A"/>
            </a:solidFill>
            <a:prstDash val="dash"/>
          </a:ln>
        </p:spPr>
      </p:cxnSp>
      <p:cxnSp>
        <p:nvCxnSpPr>
          <p:cNvPr id="83" name="line"/>
          <p:cNvCxnSpPr/>
          <p:nvPr/>
        </p:nvCxnSpPr>
        <p:spPr>
          <a:xfrm>
            <a:off x="3391200" y="1951200"/>
            <a:ext cx="288000" cy="0"/>
          </a:xfrm>
          <a:prstGeom prst="straightConnector1">
            <a:avLst/>
          </a:prstGeom>
          <a:ln w="11430" cap="rnd">
            <a:solidFill>
              <a:srgbClr val="1BAF7A"/>
            </a:solidFill>
            <a:prstDash val="dash"/>
            <a:tailEnd type="triangle" w="med" len="med"/>
          </a:ln>
        </p:spPr>
      </p:cxnSp>
      <p:sp>
        <p:nvSpPr>
          <p:cNvPr id="84" name="node"/>
          <p:cNvSpPr/>
          <p:nvPr/>
        </p:nvSpPr>
        <p:spPr>
          <a:xfrm rot="0">
            <a:off x="3256200" y="2068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85" name="node"/>
          <p:cNvSpPr/>
          <p:nvPr/>
        </p:nvSpPr>
        <p:spPr>
          <a:xfrm rot="0">
            <a:off x="3371400" y="1931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86" name="node"/>
          <p:cNvSpPr/>
          <p:nvPr/>
        </p:nvSpPr>
        <p:spPr>
          <a:xfrm rot="0">
            <a:off x="3486600" y="1794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87" name="node"/>
          <p:cNvSpPr/>
          <p:nvPr/>
        </p:nvSpPr>
        <p:spPr>
          <a:xfrm rot="0">
            <a:off x="3544200" y="2068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88" name="node"/>
          <p:cNvSpPr/>
          <p:nvPr/>
        </p:nvSpPr>
        <p:spPr>
          <a:xfrm rot="0">
            <a:off x="3659400" y="1931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89" name="node"/>
          <p:cNvSpPr/>
          <p:nvPr/>
        </p:nvSpPr>
        <p:spPr>
          <a:xfrm rot="0">
            <a:off x="3774600" y="1794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0" name="node"/>
          <p:cNvSpPr/>
          <p:nvPr/>
        </p:nvSpPr>
        <p:spPr>
          <a:xfrm rot="0">
            <a:off x="3832200" y="2068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1" name="node"/>
          <p:cNvSpPr/>
          <p:nvPr/>
        </p:nvSpPr>
        <p:spPr>
          <a:xfrm rot="0">
            <a:off x="3947400" y="1931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2" name="node"/>
          <p:cNvSpPr/>
          <p:nvPr/>
        </p:nvSpPr>
        <p:spPr>
          <a:xfrm rot="0">
            <a:off x="4062600" y="1794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3" name="node"/>
          <p:cNvSpPr/>
          <p:nvPr/>
        </p:nvSpPr>
        <p:spPr>
          <a:xfrm rot="0">
            <a:off x="4120200" y="2068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4" name="node"/>
          <p:cNvSpPr/>
          <p:nvPr/>
        </p:nvSpPr>
        <p:spPr>
          <a:xfrm rot="0">
            <a:off x="4235400" y="1931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5" name="node"/>
          <p:cNvSpPr/>
          <p:nvPr/>
        </p:nvSpPr>
        <p:spPr>
          <a:xfrm rot="0">
            <a:off x="4350600" y="1794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6" name="node"/>
          <p:cNvSpPr/>
          <p:nvPr/>
        </p:nvSpPr>
        <p:spPr>
          <a:xfrm rot="0">
            <a:off x="3256200" y="1564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7" name="node"/>
          <p:cNvSpPr/>
          <p:nvPr/>
        </p:nvSpPr>
        <p:spPr>
          <a:xfrm rot="0">
            <a:off x="3371400" y="1427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8" name="node"/>
          <p:cNvSpPr/>
          <p:nvPr/>
        </p:nvSpPr>
        <p:spPr>
          <a:xfrm rot="0">
            <a:off x="3486600" y="1290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99" name="node"/>
          <p:cNvSpPr/>
          <p:nvPr/>
        </p:nvSpPr>
        <p:spPr>
          <a:xfrm rot="0">
            <a:off x="3544200" y="1564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0" name="node"/>
          <p:cNvSpPr/>
          <p:nvPr/>
        </p:nvSpPr>
        <p:spPr>
          <a:xfrm rot="0">
            <a:off x="3659400" y="1427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1" name="node"/>
          <p:cNvSpPr/>
          <p:nvPr/>
        </p:nvSpPr>
        <p:spPr>
          <a:xfrm rot="0">
            <a:off x="3774600" y="1290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2" name="node"/>
          <p:cNvSpPr/>
          <p:nvPr/>
        </p:nvSpPr>
        <p:spPr>
          <a:xfrm rot="0">
            <a:off x="3832200" y="1564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3" name="node"/>
          <p:cNvSpPr/>
          <p:nvPr/>
        </p:nvSpPr>
        <p:spPr>
          <a:xfrm rot="0">
            <a:off x="3947400" y="1427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4" name="node"/>
          <p:cNvSpPr/>
          <p:nvPr/>
        </p:nvSpPr>
        <p:spPr>
          <a:xfrm rot="0">
            <a:off x="4062600" y="1290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5" name="node"/>
          <p:cNvSpPr/>
          <p:nvPr/>
        </p:nvSpPr>
        <p:spPr>
          <a:xfrm rot="0">
            <a:off x="4120200" y="15642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6" name="node"/>
          <p:cNvSpPr/>
          <p:nvPr/>
        </p:nvSpPr>
        <p:spPr>
          <a:xfrm rot="0">
            <a:off x="4235400" y="14274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7" name="node"/>
          <p:cNvSpPr/>
          <p:nvPr/>
        </p:nvSpPr>
        <p:spPr>
          <a:xfrm rot="0">
            <a:off x="4350600" y="1290600"/>
            <a:ext cx="39600" cy="39600"/>
          </a:xfrm>
          <a:prstGeom prst="ellipse">
            <a:avLst/>
          </a:prstGeom>
          <a:solidFill>
            <a:srgbClr val="9399A0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8" name="node"/>
          <p:cNvSpPr/>
          <p:nvPr/>
        </p:nvSpPr>
        <p:spPr>
          <a:xfrm rot="0">
            <a:off x="3245400" y="2057400"/>
            <a:ext cx="61200" cy="61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09" name="node"/>
          <p:cNvSpPr/>
          <p:nvPr/>
        </p:nvSpPr>
        <p:spPr>
          <a:xfrm rot="0">
            <a:off x="3475800" y="1783800"/>
            <a:ext cx="61200" cy="61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10" name="node"/>
          <p:cNvSpPr/>
          <p:nvPr/>
        </p:nvSpPr>
        <p:spPr>
          <a:xfrm rot="0">
            <a:off x="4109400" y="2057400"/>
            <a:ext cx="61200" cy="61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11" name="node"/>
          <p:cNvSpPr/>
          <p:nvPr/>
        </p:nvSpPr>
        <p:spPr>
          <a:xfrm rot="0">
            <a:off x="3475800" y="1279800"/>
            <a:ext cx="61200" cy="61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12" name="node"/>
          <p:cNvSpPr/>
          <p:nvPr/>
        </p:nvSpPr>
        <p:spPr>
          <a:xfrm rot="0">
            <a:off x="3920400" y="1904400"/>
            <a:ext cx="93600" cy="93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B6834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13" name="node"/>
          <p:cNvSpPr/>
          <p:nvPr/>
        </p:nvSpPr>
        <p:spPr>
          <a:xfrm rot="0">
            <a:off x="3945600" y="1929600"/>
            <a:ext cx="43200" cy="432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14" name="text"/>
          <p:cNvSpPr/>
          <p:nvPr/>
        </p:nvSpPr>
        <p:spPr>
          <a:xfrm rot="0">
            <a:off x="2790000" y="1998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r"/>
            <a:r>
              <a:rPr lang="en-US" sz="600" dirty="0">
                <a:solidFill>
                  <a:srgbClr val="2A78D6"/>
                </a:solidFill>
                <a:latin typeface="Times New Roman"/>
                <a:cs typeface="Times New Roman"/>
              </a:rPr>
              <a:t>sender</a:t>
            </a:r>
          </a:p>
          <a:p>
            <a:pPr algn="r"/>
            <a:r>
              <a:rPr lang="en-US" sz="600" dirty="0">
                <a:solidFill>
                  <a:srgbClr val="2A78D6"/>
                </a:solidFill>
                <a:latin typeface="Times New Roman"/>
                <a:cs typeface="Times New Roman"/>
              </a:rPr>
              <a:t>tiles</a:t>
            </a:r>
          </a:p>
        </p:txBody>
      </p:sp>
      <p:sp>
        <p:nvSpPr>
          <p:cNvPr id="115" name="text"/>
          <p:cNvSpPr/>
          <p:nvPr/>
        </p:nvSpPr>
        <p:spPr>
          <a:xfrm rot="0">
            <a:off x="3996000" y="2131200"/>
            <a:ext cx="684000" cy="144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EB6834"/>
                </a:solidFill>
                <a:latin typeface="Times New Roman"/>
                <a:cs typeface="Times New Roman"/>
              </a:rPr>
              <a:t>accumulator</a:t>
            </a:r>
          </a:p>
          <a:p>
            <a:pPr algn="l"/>
            <a:r>
              <a:rPr lang="en-US" sz="600" dirty="0">
                <a:solidFill>
                  <a:srgbClr val="EB6834"/>
                </a:solidFill>
                <a:latin typeface="Times New Roman"/>
                <a:cs typeface="Times New Roman"/>
              </a:rPr>
              <a:t>(reduction sink)</a:t>
            </a:r>
          </a:p>
        </p:txBody>
      </p:sp>
      <p:sp>
        <p:nvSpPr>
          <p:cNvPr id="116" name="text"/>
          <p:cNvSpPr/>
          <p:nvPr/>
        </p:nvSpPr>
        <p:spPr>
          <a:xfrm rot="0">
            <a:off x="3924000" y="918000"/>
            <a:ext cx="79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1BAF7A"/>
                </a:solidFill>
                <a:latin typeface="Times New Roman"/>
                <a:cs typeface="Times New Roman"/>
              </a:rPr>
              <a:t>two admissible paths;</a:t>
            </a:r>
          </a:p>
          <a:p>
            <a:pPr algn="l"/>
            <a:r>
              <a:rPr lang="en-US" sz="600" dirty="0">
                <a:solidFill>
                  <a:srgbClr val="1BAF7A"/>
                </a:solidFill>
                <a:latin typeface="Times New Roman"/>
                <a:cs typeface="Times New Roman"/>
              </a:rPr>
              <a:t>selection picks one</a:t>
            </a:r>
          </a:p>
        </p:txBody>
      </p:sp>
      <p:sp>
        <p:nvSpPr>
          <p:cNvPr id="117" name="text"/>
          <p:cNvSpPr/>
          <p:nvPr/>
        </p:nvSpPr>
        <p:spPr>
          <a:xfrm rot="0">
            <a:off x="3240000" y="2340000"/>
            <a:ext cx="1296000" cy="108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ctr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tiles mapped onto the 6×6×3 mesh</a:t>
            </a:r>
          </a:p>
        </p:txBody>
      </p:sp>
      <p:sp>
        <p:nvSpPr>
          <p:cNvPr id="118" name="zoom frame"/>
          <p:cNvSpPr/>
          <p:nvPr/>
        </p:nvSpPr>
        <p:spPr>
          <a:xfrm rot="0">
            <a:off x="4986000" y="774000"/>
            <a:ext cx="1584000" cy="14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9AA5B1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l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19" name="text"/>
          <p:cNvSpPr/>
          <p:nvPr/>
        </p:nvSpPr>
        <p:spPr>
          <a:xfrm rot="0">
            <a:off x="5076000" y="810000"/>
            <a:ext cx="14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50" dirty="0">
                <a:solidFill>
                  <a:srgbClr val="101720"/>
                </a:solidFill>
                <a:latin typeface="Times New Roman"/>
                <a:cs typeface="Times New Roman"/>
              </a:rPr>
              <a:t>PF = max(PIL, PEL)</a:t>
            </a:r>
            <a:r>
              <a:rPr lang="en-US" sz="650" dirty="0">
                <a:solidFill>
                  <a:srgbClr val="2A78D6"/>
                </a:solidFill>
                <a:latin typeface="Times New Roman"/>
                <a:cs typeface="Times New Roman"/>
              </a:rPr>
              <a:t>  — packing-fixed</a:t>
            </a:r>
          </a:p>
          <a:p>
            <a:pPr algn="l"/>
            <a:r>
              <a:rPr lang="en-US" sz="650" dirty="0">
                <a:solidFill>
                  <a:srgbClr val="101720"/>
                </a:solidFill>
                <a:latin typeface="Times New Roman"/>
                <a:cs typeface="Times New Roman"/>
              </a:rPr>
              <a:t>PL = max_ℓ Λ_ℓ</a:t>
            </a:r>
            <a:r>
              <a:rPr lang="en-US" sz="650" dirty="0">
                <a:solidFill>
                  <a:srgbClr val="EB6834"/>
                </a:solidFill>
                <a:latin typeface="Times New Roman"/>
                <a:cs typeface="Times New Roman"/>
              </a:rPr>
              <a:t>  — placement-set</a:t>
            </a:r>
          </a:p>
        </p:txBody>
      </p:sp>
      <p:sp>
        <p:nvSpPr>
          <p:cNvPr id="120" name="box"/>
          <p:cNvSpPr/>
          <p:nvPr/>
        </p:nvSpPr>
        <p:spPr>
          <a:xfrm rot="0">
            <a:off x="5589000" y="1407600"/>
            <a:ext cx="378000" cy="280800"/>
          </a:xfrm>
          <a:prstGeom prst="roundRect">
            <a:avLst>
              <a:gd name="adj" fmla="val 12000"/>
            </a:avLst>
          </a:prstGeom>
          <a:solidFill>
            <a:srgbClr val="ECEFF2"/>
          </a:solidFill>
          <a:ln w="10160">
            <a:solidFill>
              <a:srgbClr val="3A4653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ctr"/>
            <a:r>
              <a:rPr lang="en-US" sz="700" dirty="0">
                <a:solidFill>
                  <a:srgbClr val="101720"/>
                </a:solidFill>
                <a:latin typeface="Times New Roman"/>
                <a:cs typeface="Times New Roman"/>
              </a:rPr>
              <a:t>router</a:t>
            </a:r>
          </a:p>
        </p:txBody>
      </p:sp>
      <p:sp>
        <p:nvSpPr>
          <p:cNvPr id="121" name="box"/>
          <p:cNvSpPr/>
          <p:nvPr/>
        </p:nvSpPr>
        <p:spPr>
          <a:xfrm rot="0">
            <a:off x="5589000" y="1969200"/>
            <a:ext cx="378000" cy="216000"/>
          </a:xfrm>
          <a:prstGeom prst="roundRect">
            <a:avLst>
              <a:gd name="adj" fmla="val 12000"/>
            </a:avLst>
          </a:prstGeom>
          <a:solidFill>
            <a:srgbClr val="FDF3EF"/>
          </a:solidFill>
          <a:ln w="11430">
            <a:solidFill>
              <a:srgbClr val="EB6834"/>
            </a:solidFill>
          </a:ln>
        </p:spPr>
        <p:txBody>
          <a:bodyPr wrap="square" lIns="43200" tIns="21600" rIns="43200" bIns="21600" anchor="ctr">
            <a:normAutofit/>
          </a:bodyPr>
          <a:lstStyle/>
          <a:p>
            <a:pPr algn="ctr"/>
            <a:r>
              <a:rPr lang="en-US" sz="700" dirty="0">
                <a:solidFill>
                  <a:srgbClr val="EB6834"/>
                </a:solidFill>
                <a:latin typeface="Times New Roman"/>
                <a:cs typeface="Times New Roman"/>
              </a:rPr>
              <a:t>tile</a:t>
            </a:r>
          </a:p>
        </p:txBody>
      </p:sp>
      <p:cxnSp>
        <p:nvCxnSpPr>
          <p:cNvPr id="122" name="line"/>
          <p:cNvCxnSpPr/>
          <p:nvPr/>
        </p:nvCxnSpPr>
        <p:spPr>
          <a:xfrm flipV="1">
            <a:off x="5698800" y="1688400"/>
            <a:ext cx="0" cy="280800"/>
          </a:xfrm>
          <a:prstGeom prst="straightConnector1">
            <a:avLst/>
          </a:prstGeom>
          <a:ln w="762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23" name="line"/>
          <p:cNvCxnSpPr/>
          <p:nvPr/>
        </p:nvCxnSpPr>
        <p:spPr>
          <a:xfrm>
            <a:off x="5857200" y="1688400"/>
            <a:ext cx="0" cy="280800"/>
          </a:xfrm>
          <a:prstGeom prst="straightConnector1">
            <a:avLst/>
          </a:prstGeom>
          <a:ln w="27940" cap="rnd">
            <a:solidFill>
              <a:srgbClr val="EB6834"/>
            </a:solidFill>
            <a:tailEnd type="triangle" w="med" len="med"/>
          </a:ln>
        </p:spPr>
      </p:cxnSp>
      <p:sp>
        <p:nvSpPr>
          <p:cNvPr id="124" name="text"/>
          <p:cNvSpPr/>
          <p:nvPr/>
        </p:nvSpPr>
        <p:spPr>
          <a:xfrm rot="0">
            <a:off x="5292000" y="17352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r"/>
            <a:r>
              <a:rPr lang="en-US" sz="600" dirty="0">
                <a:solidFill>
                  <a:srgbClr val="101720"/>
                </a:solidFill>
                <a:latin typeface="Times New Roman"/>
                <a:cs typeface="Times New Roman"/>
              </a:rPr>
              <a:t>inject</a:t>
            </a:r>
          </a:p>
          <a:p>
            <a:pPr algn="r"/>
            <a:r>
              <a:rPr lang="en-US" sz="600" dirty="0">
                <a:solidFill>
                  <a:srgbClr val="101720"/>
                </a:solidFill>
                <a:latin typeface="Times New Roman"/>
                <a:cs typeface="Times New Roman"/>
              </a:rPr>
              <a:t>PIL</a:t>
            </a:r>
          </a:p>
        </p:txBody>
      </p:sp>
      <p:sp>
        <p:nvSpPr>
          <p:cNvPr id="125" name="text"/>
          <p:cNvSpPr/>
          <p:nvPr/>
        </p:nvSpPr>
        <p:spPr>
          <a:xfrm rot="0">
            <a:off x="5904000" y="17352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EB6834"/>
                </a:solidFill>
                <a:latin typeface="Times New Roman"/>
                <a:cs typeface="Times New Roman"/>
              </a:rPr>
              <a:t>eject</a:t>
            </a:r>
          </a:p>
          <a:p>
            <a:pPr algn="l"/>
            <a:r>
              <a:rPr lang="en-US" sz="600" dirty="0">
                <a:solidFill>
                  <a:srgbClr val="EB6834"/>
                </a:solidFill>
                <a:latin typeface="Times New Roman"/>
                <a:cs typeface="Times New Roman"/>
              </a:rPr>
              <a:t>PEL</a:t>
            </a:r>
          </a:p>
        </p:txBody>
      </p:sp>
      <p:cxnSp>
        <p:nvCxnSpPr>
          <p:cNvPr id="126" name="line"/>
          <p:cNvCxnSpPr/>
          <p:nvPr/>
        </p:nvCxnSpPr>
        <p:spPr>
          <a:xfrm>
            <a:off x="5175000" y="1504800"/>
            <a:ext cx="414000" cy="0"/>
          </a:xfrm>
          <a:prstGeom prst="straightConnector1">
            <a:avLst/>
          </a:prstGeom>
          <a:ln w="27940" cap="rnd">
            <a:solidFill>
              <a:srgbClr val="EB6834"/>
            </a:solidFill>
            <a:tailEnd type="triangle" w="med" len="med"/>
          </a:ln>
        </p:spPr>
      </p:cxnSp>
      <p:cxnSp>
        <p:nvCxnSpPr>
          <p:cNvPr id="127" name="line"/>
          <p:cNvCxnSpPr/>
          <p:nvPr/>
        </p:nvCxnSpPr>
        <p:spPr>
          <a:xfrm flipH="1">
            <a:off x="5175000" y="1591200"/>
            <a:ext cx="414000" cy="0"/>
          </a:xfrm>
          <a:prstGeom prst="straightConnector1">
            <a:avLst/>
          </a:prstGeom>
          <a:ln w="762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28" name="line"/>
          <p:cNvCxnSpPr/>
          <p:nvPr/>
        </p:nvCxnSpPr>
        <p:spPr>
          <a:xfrm flipH="1">
            <a:off x="5967000" y="1504800"/>
            <a:ext cx="414000" cy="0"/>
          </a:xfrm>
          <a:prstGeom prst="straightConnector1">
            <a:avLst/>
          </a:prstGeom>
          <a:ln w="1143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29" name="line"/>
          <p:cNvCxnSpPr/>
          <p:nvPr/>
        </p:nvCxnSpPr>
        <p:spPr>
          <a:xfrm>
            <a:off x="5967000" y="1591200"/>
            <a:ext cx="414000" cy="0"/>
          </a:xfrm>
          <a:prstGeom prst="straightConnector1">
            <a:avLst/>
          </a:prstGeom>
          <a:ln w="762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30" name="line"/>
          <p:cNvCxnSpPr/>
          <p:nvPr/>
        </p:nvCxnSpPr>
        <p:spPr>
          <a:xfrm>
            <a:off x="5734800" y="1184400"/>
            <a:ext cx="0" cy="223200"/>
          </a:xfrm>
          <a:prstGeom prst="straightConnector1">
            <a:avLst/>
          </a:prstGeom>
          <a:ln w="1016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31" name="line"/>
          <p:cNvCxnSpPr/>
          <p:nvPr/>
        </p:nvCxnSpPr>
        <p:spPr>
          <a:xfrm flipV="1">
            <a:off x="5821200" y="1184400"/>
            <a:ext cx="0" cy="223200"/>
          </a:xfrm>
          <a:prstGeom prst="straightConnector1">
            <a:avLst/>
          </a:prstGeom>
          <a:ln w="7620" cap="rnd">
            <a:solidFill>
              <a:srgbClr val="3A4653"/>
            </a:solidFill>
            <a:tailEnd type="triangle" w="med" len="med"/>
          </a:ln>
        </p:spPr>
      </p:cxnSp>
      <p:cxnSp>
        <p:nvCxnSpPr>
          <p:cNvPr id="132" name="line"/>
          <p:cNvCxnSpPr/>
          <p:nvPr/>
        </p:nvCxnSpPr>
        <p:spPr>
          <a:xfrm flipH="1" flipV="1">
            <a:off x="5481000" y="1209600"/>
            <a:ext cx="144000" cy="198000"/>
          </a:xfrm>
          <a:prstGeom prst="straightConnector1">
            <a:avLst/>
          </a:prstGeom>
          <a:ln w="7620" cap="rnd">
            <a:solidFill>
              <a:srgbClr val="9AA5B1"/>
            </a:solidFill>
            <a:prstDash val="sysDot"/>
          </a:ln>
        </p:spPr>
      </p:cxnSp>
      <p:cxnSp>
        <p:nvCxnSpPr>
          <p:cNvPr id="133" name="line"/>
          <p:cNvCxnSpPr/>
          <p:nvPr/>
        </p:nvCxnSpPr>
        <p:spPr>
          <a:xfrm flipV="1">
            <a:off x="5931000" y="1209600"/>
            <a:ext cx="144000" cy="198000"/>
          </a:xfrm>
          <a:prstGeom prst="straightConnector1">
            <a:avLst/>
          </a:prstGeom>
          <a:ln w="7620" cap="rnd">
            <a:solidFill>
              <a:srgbClr val="9AA5B1"/>
            </a:solidFill>
            <a:prstDash val="sysDot"/>
          </a:ln>
        </p:spPr>
      </p:cxnSp>
      <p:sp>
        <p:nvSpPr>
          <p:cNvPr id="134" name="text"/>
          <p:cNvSpPr/>
          <p:nvPr/>
        </p:nvSpPr>
        <p:spPr>
          <a:xfrm rot="0">
            <a:off x="5146200" y="1359000"/>
            <a:ext cx="468000" cy="9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ctr"/>
            <a:r>
              <a:rPr lang="en-US" sz="600" dirty="0">
                <a:solidFill>
                  <a:srgbClr val="EB6834"/>
                </a:solidFill>
                <a:latin typeface="Times New Roman"/>
                <a:cs typeface="Times New Roman"/>
              </a:rPr>
              <a:t>link load Λ_ℓ</a:t>
            </a:r>
          </a:p>
        </p:txBody>
      </p:sp>
      <p:sp>
        <p:nvSpPr>
          <p:cNvPr id="135" name="text"/>
          <p:cNvSpPr/>
          <p:nvPr/>
        </p:nvSpPr>
        <p:spPr>
          <a:xfrm rot="0">
            <a:off x="5868000" y="2070000"/>
            <a:ext cx="61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r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one port,</a:t>
            </a:r>
          </a:p>
          <a:p>
            <a:pPr algn="r"/>
            <a:r>
              <a:rPr lang="en-US" sz="600" dirty="0">
                <a:solidFill>
                  <a:srgbClr val="3A4653"/>
                </a:solidFill>
                <a:latin typeface="Times New Roman"/>
                <a:cs typeface="Times New Roman"/>
              </a:rPr>
              <a:t>up to six links</a:t>
            </a:r>
          </a:p>
        </p:txBody>
      </p:sp>
      <p:cxnSp>
        <p:nvCxnSpPr>
          <p:cNvPr id="136" name="line"/>
          <p:cNvCxnSpPr/>
          <p:nvPr/>
        </p:nvCxnSpPr>
        <p:spPr>
          <a:xfrm flipV="1">
            <a:off x="3967200" y="828000"/>
            <a:ext cx="1018800" cy="1123200"/>
          </a:xfrm>
          <a:prstGeom prst="straightConnector1">
            <a:avLst/>
          </a:prstGeom>
          <a:ln w="6350" cap="rnd">
            <a:solidFill>
              <a:srgbClr val="9AA5B1"/>
            </a:solidFill>
            <a:prstDash val="dash"/>
          </a:ln>
        </p:spPr>
      </p:cxnSp>
      <p:cxnSp>
        <p:nvCxnSpPr>
          <p:cNvPr id="137" name="line"/>
          <p:cNvCxnSpPr/>
          <p:nvPr/>
        </p:nvCxnSpPr>
        <p:spPr>
          <a:xfrm>
            <a:off x="3967200" y="1951200"/>
            <a:ext cx="1018800" cy="226800"/>
          </a:xfrm>
          <a:prstGeom prst="straightConnector1">
            <a:avLst/>
          </a:prstGeom>
          <a:ln w="6350" cap="rnd">
            <a:solidFill>
              <a:srgbClr val="9AA5B1"/>
            </a:solidFill>
            <a:prstDash val="dash"/>
          </a:ln>
        </p:spPr>
      </p:cxnSp>
      <p:cxnSp>
        <p:nvCxnSpPr>
          <p:cNvPr id="138" name="line"/>
          <p:cNvCxnSpPr/>
          <p:nvPr/>
        </p:nvCxnSpPr>
        <p:spPr>
          <a:xfrm>
            <a:off x="2412000" y="709200"/>
            <a:ext cx="126000" cy="0"/>
          </a:xfrm>
          <a:prstGeom prst="straightConnector1">
            <a:avLst/>
          </a:prstGeom>
          <a:ln w="6350" cap="rnd">
            <a:solidFill>
              <a:srgbClr val="2A78D6"/>
            </a:solidFill>
            <a:prstDash val="dash"/>
          </a:ln>
        </p:spPr>
      </p:cxnSp>
      <p:cxnSp>
        <p:nvCxnSpPr>
          <p:cNvPr id="139" name="line"/>
          <p:cNvCxnSpPr/>
          <p:nvPr/>
        </p:nvCxnSpPr>
        <p:spPr>
          <a:xfrm>
            <a:off x="2538000" y="709200"/>
            <a:ext cx="3240000" cy="0"/>
          </a:xfrm>
          <a:prstGeom prst="straightConnector1">
            <a:avLst/>
          </a:prstGeom>
          <a:ln w="6350" cap="rnd">
            <a:solidFill>
              <a:srgbClr val="2A78D6"/>
            </a:solidFill>
            <a:prstDash val="dash"/>
          </a:ln>
        </p:spPr>
      </p:cxnSp>
      <p:cxnSp>
        <p:nvCxnSpPr>
          <p:cNvPr id="140" name="line"/>
          <p:cNvCxnSpPr/>
          <p:nvPr/>
        </p:nvCxnSpPr>
        <p:spPr>
          <a:xfrm>
            <a:off x="5778000" y="709200"/>
            <a:ext cx="0" cy="64800"/>
          </a:xfrm>
          <a:prstGeom prst="straightConnector1">
            <a:avLst/>
          </a:prstGeom>
          <a:ln w="6350" cap="rnd">
            <a:solidFill>
              <a:srgbClr val="2A78D6"/>
            </a:solidFill>
            <a:prstDash val="dash"/>
          </a:ln>
        </p:spPr>
      </p:cxnSp>
      <p:cxnSp>
        <p:nvCxnSpPr>
          <p:cNvPr id="141" name="line"/>
          <p:cNvCxnSpPr/>
          <p:nvPr/>
        </p:nvCxnSpPr>
        <p:spPr>
          <a:xfrm>
            <a:off x="2412000" y="1321200"/>
            <a:ext cx="126000" cy="0"/>
          </a:xfrm>
          <a:prstGeom prst="straightConnector1">
            <a:avLst/>
          </a:prstGeom>
          <a:ln w="6350" cap="rnd">
            <a:solidFill>
              <a:srgbClr val="EB6834"/>
            </a:solidFill>
            <a:prstDash val="dash"/>
          </a:ln>
        </p:spPr>
      </p:cxnSp>
      <p:cxnSp>
        <p:nvCxnSpPr>
          <p:cNvPr id="142" name="line"/>
          <p:cNvCxnSpPr/>
          <p:nvPr/>
        </p:nvCxnSpPr>
        <p:spPr>
          <a:xfrm>
            <a:off x="2538000" y="1321200"/>
            <a:ext cx="630000" cy="0"/>
          </a:xfrm>
          <a:prstGeom prst="straightConnector1">
            <a:avLst/>
          </a:prstGeom>
          <a:ln w="6350" cap="rnd">
            <a:solidFill>
              <a:srgbClr val="EB6834"/>
            </a:solidFill>
            <a:prstDash val="dash"/>
          </a:ln>
        </p:spPr>
      </p:cxnSp>
      <p:cxnSp>
        <p:nvCxnSpPr>
          <p:cNvPr id="143" name="line"/>
          <p:cNvCxnSpPr/>
          <p:nvPr/>
        </p:nvCxnSpPr>
        <p:spPr>
          <a:xfrm>
            <a:off x="2412000" y="1918800"/>
            <a:ext cx="126000" cy="0"/>
          </a:xfrm>
          <a:prstGeom prst="straightConnector1">
            <a:avLst/>
          </a:prstGeom>
          <a:ln w="6350" cap="rnd">
            <a:solidFill>
              <a:srgbClr val="1BAF7A"/>
            </a:solidFill>
            <a:prstDash val="dash"/>
          </a:ln>
        </p:spPr>
      </p:cxnSp>
      <p:cxnSp>
        <p:nvCxnSpPr>
          <p:cNvPr id="144" name="line"/>
          <p:cNvCxnSpPr/>
          <p:nvPr/>
        </p:nvCxnSpPr>
        <p:spPr>
          <a:xfrm>
            <a:off x="2538000" y="1918800"/>
            <a:ext cx="630000" cy="0"/>
          </a:xfrm>
          <a:prstGeom prst="straightConnector1">
            <a:avLst/>
          </a:prstGeom>
          <a:ln w="6350" cap="rnd">
            <a:solidFill>
              <a:srgbClr val="1BAF7A"/>
            </a:solidFill>
            <a:prstDash val="dash"/>
          </a:ln>
        </p:spPr>
      </p:cxnSp>
      <p:sp>
        <p:nvSpPr>
          <p:cNvPr id="145" name="text"/>
          <p:cNvSpPr/>
          <p:nvPr/>
        </p:nvSpPr>
        <p:spPr>
          <a:xfrm rot="0">
            <a:off x="2574000" y="581400"/>
            <a:ext cx="504000" cy="9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2A78D6"/>
                </a:solidFill>
                <a:latin typeface="Times New Roman"/>
                <a:cs typeface="Times New Roman"/>
              </a:rPr>
              <a:t>sets PF</a:t>
            </a:r>
          </a:p>
        </p:txBody>
      </p:sp>
      <p:sp>
        <p:nvSpPr>
          <p:cNvPr id="146" name="text"/>
          <p:cNvSpPr/>
          <p:nvPr/>
        </p:nvSpPr>
        <p:spPr>
          <a:xfrm rot="0">
            <a:off x="2574000" y="1193400"/>
            <a:ext cx="576000" cy="9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EB6834"/>
                </a:solidFill>
                <a:latin typeface="Times New Roman"/>
                <a:cs typeface="Times New Roman"/>
              </a:rPr>
              <a:t>sets π, PL</a:t>
            </a:r>
          </a:p>
        </p:txBody>
      </p:sp>
      <p:sp>
        <p:nvSpPr>
          <p:cNvPr id="147" name="text"/>
          <p:cNvSpPr/>
          <p:nvPr/>
        </p:nvSpPr>
        <p:spPr>
          <a:xfrm rot="0">
            <a:off x="2592000" y="1791000"/>
            <a:ext cx="576000" cy="90000"/>
          </a:xfrm>
          <a:prstGeom prst="rect">
            <a:avLst/>
          </a:prstGeom>
          <a:noFill/>
          <a:ln>
            <a:noFill/>
          </a:ln>
        </p:spPr>
        <p:txBody>
          <a:bodyPr wrap="square" lIns="7200" tIns="3600" rIns="7200" bIns="3600" anchor="ctr">
            <a:normAutofit/>
          </a:bodyPr>
          <a:lstStyle/>
          <a:p>
            <a:pPr algn="l"/>
            <a:r>
              <a:rPr lang="en-US" sz="600" dirty="0">
                <a:solidFill>
                  <a:srgbClr val="1BAF7A"/>
                </a:solidFill>
                <a:latin typeface="Times New Roman"/>
                <a:cs typeface="Times New Roman"/>
              </a:rPr>
              <a:t>picks the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 render"/>
          <p:cNvPicPr/>
          <p:nvPr/>
        </p:nvPicPr>
        <p:blipFill>
          <a:blip r:embed="rId2"/>
          <a:stretch>
            <a:fillRect/>
          </a:stretch>
        </p:blipFill>
        <p:spPr>
          <a:xfrm>
            <a:off x="108000" y="108000"/>
            <a:ext cx="6552000" cy="2455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g">
  <a:themeElements>
    <a:clrScheme name="fig">
      <a:dk1>
        <a:srgbClr val="000000"/>
      </a:dk1>
      <a:lt1>
        <a:srgbClr val="FFFFFF"/>
      </a:lt1>
      <a:dk2>
        <a:srgbClr val="3A4653"/>
      </a:dk2>
      <a:lt2>
        <a:srgbClr val="EEEEEE"/>
      </a:lt2>
      <a:accent1>
        <a:srgbClr val="2A78D6"/>
      </a:accent1>
      <a:accent2>
        <a:srgbClr val="EB6834"/>
      </a:accent2>
      <a:accent3>
        <a:srgbClr val="1BAF7A"/>
      </a:accent3>
      <a:accent4>
        <a:srgbClr val="9AA5B1"/>
      </a:accent4>
      <a:accent5>
        <a:srgbClr val="C9D2DB"/>
      </a:accent5>
      <a:accent6>
        <a:srgbClr val="101720"/>
      </a:accent6>
      <a:hlink>
        <a:srgbClr val="0563C1"/>
      </a:hlink>
      <a:folHlink>
        <a:srgbClr val="954F72"/>
      </a:folHlink>
    </a:clrScheme>
    <a:fontScheme name="fig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i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fig_methodflow</dc:title>
  <dc:creator>noxim3d-dnn</dc:creator>
  <dcterms:created xsi:type="dcterms:W3CDTF">2026-09-02T00:00:00Z</dcterms:created>
  <dcterms:modified xsi:type="dcterms:W3CDTF">2026-09-02T00:00:00Z</dcterms:modified>
</cp:coreProperties>
</file>